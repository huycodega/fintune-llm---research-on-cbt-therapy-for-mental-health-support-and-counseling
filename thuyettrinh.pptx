
<file path=[Content_Types].xml><?xml version="1.0" encoding="utf-8"?>
<Types xmlns="http://schemas.openxmlformats.org/package/2006/content-types">
  <Default Extension="jfif" ContentType="image/jpeg"/>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 id="270" r:id="rId14"/>
    <p:sldId id="271" r:id="rId15"/>
    <p:sldId id="272" r:id="rId16"/>
    <p:sldId id="269"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8" d="100"/>
          <a:sy n="88" d="100"/>
        </p:scale>
        <p:origin x="466"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A57D96C-479C-4640-88FF-54F87AFE3AC4}" type="datetimeFigureOut">
              <a:rPr lang="en-US" smtClean="0"/>
              <a:t>6/1/2026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F6768B-A887-496B-87CA-E2FA663FA591}" type="slidenum">
              <a:rPr lang="en-US" smtClean="0"/>
              <a:t>‹#›</a:t>
            </a:fld>
            <a:endParaRPr lang="en-US"/>
          </a:p>
        </p:txBody>
      </p:sp>
    </p:spTree>
    <p:extLst>
      <p:ext uri="{BB962C8B-B14F-4D97-AF65-F5344CB8AC3E}">
        <p14:creationId xmlns:p14="http://schemas.microsoft.com/office/powerpoint/2010/main" val="37394981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A57D96C-479C-4640-88FF-54F87AFE3AC4}" type="datetimeFigureOut">
              <a:rPr lang="en-US" smtClean="0"/>
              <a:t>6/1/2026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F6768B-A887-496B-87CA-E2FA663FA591}" type="slidenum">
              <a:rPr lang="en-US" smtClean="0"/>
              <a:t>‹#›</a:t>
            </a:fld>
            <a:endParaRPr lang="en-US"/>
          </a:p>
        </p:txBody>
      </p:sp>
    </p:spTree>
    <p:extLst>
      <p:ext uri="{BB962C8B-B14F-4D97-AF65-F5344CB8AC3E}">
        <p14:creationId xmlns:p14="http://schemas.microsoft.com/office/powerpoint/2010/main" val="29327705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A57D96C-479C-4640-88FF-54F87AFE3AC4}" type="datetimeFigureOut">
              <a:rPr lang="en-US" smtClean="0"/>
              <a:t>6/1/2026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F6768B-A887-496B-87CA-E2FA663FA591}" type="slidenum">
              <a:rPr lang="en-US" smtClean="0"/>
              <a:t>‹#›</a:t>
            </a:fld>
            <a:endParaRPr lang="en-US"/>
          </a:p>
        </p:txBody>
      </p:sp>
    </p:spTree>
    <p:extLst>
      <p:ext uri="{BB962C8B-B14F-4D97-AF65-F5344CB8AC3E}">
        <p14:creationId xmlns:p14="http://schemas.microsoft.com/office/powerpoint/2010/main" val="14497587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A57D96C-479C-4640-88FF-54F87AFE3AC4}" type="datetimeFigureOut">
              <a:rPr lang="en-US" smtClean="0"/>
              <a:t>6/1/2026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6F6768B-A887-496B-87CA-E2FA663FA591}" type="slidenum">
              <a:rPr lang="en-US" smtClean="0"/>
              <a:t>‹#›</a:t>
            </a:fld>
            <a:endParaRPr lang="en-US"/>
          </a:p>
        </p:txBody>
      </p:sp>
    </p:spTree>
    <p:extLst>
      <p:ext uri="{BB962C8B-B14F-4D97-AF65-F5344CB8AC3E}">
        <p14:creationId xmlns:p14="http://schemas.microsoft.com/office/powerpoint/2010/main" val="40903473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A57D96C-479C-4640-88FF-54F87AFE3AC4}" type="datetimeFigureOut">
              <a:rPr lang="en-US" smtClean="0"/>
              <a:t>6/1/2026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6F6768B-A887-496B-87CA-E2FA663FA591}" type="slidenum">
              <a:rPr lang="en-US" smtClean="0"/>
              <a:t>‹#›</a:t>
            </a:fld>
            <a:endParaRPr lang="en-US"/>
          </a:p>
        </p:txBody>
      </p:sp>
    </p:spTree>
    <p:extLst>
      <p:ext uri="{BB962C8B-B14F-4D97-AF65-F5344CB8AC3E}">
        <p14:creationId xmlns:p14="http://schemas.microsoft.com/office/powerpoint/2010/main" val="21535321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A57D96C-479C-4640-88FF-54F87AFE3AC4}" type="datetimeFigureOut">
              <a:rPr lang="en-US" smtClean="0"/>
              <a:t>6/1/2026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6F6768B-A887-496B-87CA-E2FA663FA591}" type="slidenum">
              <a:rPr lang="en-US" smtClean="0"/>
              <a:t>‹#›</a:t>
            </a:fld>
            <a:endParaRPr lang="en-US"/>
          </a:p>
        </p:txBody>
      </p:sp>
    </p:spTree>
    <p:extLst>
      <p:ext uri="{BB962C8B-B14F-4D97-AF65-F5344CB8AC3E}">
        <p14:creationId xmlns:p14="http://schemas.microsoft.com/office/powerpoint/2010/main" val="39546195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A57D96C-479C-4640-88FF-54F87AFE3AC4}" type="datetimeFigureOut">
              <a:rPr lang="en-US" smtClean="0"/>
              <a:t>6/1/2026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6F6768B-A887-496B-87CA-E2FA663FA591}" type="slidenum">
              <a:rPr lang="en-US" smtClean="0"/>
              <a:t>‹#›</a:t>
            </a:fld>
            <a:endParaRPr lang="en-US"/>
          </a:p>
        </p:txBody>
      </p:sp>
    </p:spTree>
    <p:extLst>
      <p:ext uri="{BB962C8B-B14F-4D97-AF65-F5344CB8AC3E}">
        <p14:creationId xmlns:p14="http://schemas.microsoft.com/office/powerpoint/2010/main" val="12725931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A57D96C-479C-4640-88FF-54F87AFE3AC4}" type="datetimeFigureOut">
              <a:rPr lang="en-US" smtClean="0"/>
              <a:t>6/1/2026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6F6768B-A887-496B-87CA-E2FA663FA591}" type="slidenum">
              <a:rPr lang="en-US" smtClean="0"/>
              <a:t>‹#›</a:t>
            </a:fld>
            <a:endParaRPr lang="en-US"/>
          </a:p>
        </p:txBody>
      </p:sp>
    </p:spTree>
    <p:extLst>
      <p:ext uri="{BB962C8B-B14F-4D97-AF65-F5344CB8AC3E}">
        <p14:creationId xmlns:p14="http://schemas.microsoft.com/office/powerpoint/2010/main" val="39274617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A57D96C-479C-4640-88FF-54F87AFE3AC4}" type="datetimeFigureOut">
              <a:rPr lang="en-US" smtClean="0"/>
              <a:t>6/1/2026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6F6768B-A887-496B-87CA-E2FA663FA591}" type="slidenum">
              <a:rPr lang="en-US" smtClean="0"/>
              <a:t>‹#›</a:t>
            </a:fld>
            <a:endParaRPr lang="en-US"/>
          </a:p>
        </p:txBody>
      </p:sp>
    </p:spTree>
    <p:extLst>
      <p:ext uri="{BB962C8B-B14F-4D97-AF65-F5344CB8AC3E}">
        <p14:creationId xmlns:p14="http://schemas.microsoft.com/office/powerpoint/2010/main" val="29591157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A57D96C-479C-4640-88FF-54F87AFE3AC4}" type="datetimeFigureOut">
              <a:rPr lang="en-US" smtClean="0"/>
              <a:t>6/1/2026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F6768B-A887-496B-87CA-E2FA663FA591}" type="slidenum">
              <a:rPr lang="en-US" smtClean="0"/>
              <a:t>‹#›</a:t>
            </a:fld>
            <a:endParaRPr lang="en-US"/>
          </a:p>
        </p:txBody>
      </p:sp>
    </p:spTree>
    <p:extLst>
      <p:ext uri="{BB962C8B-B14F-4D97-AF65-F5344CB8AC3E}">
        <p14:creationId xmlns:p14="http://schemas.microsoft.com/office/powerpoint/2010/main" val="16782066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A57D96C-479C-4640-88FF-54F87AFE3AC4}" type="datetimeFigureOut">
              <a:rPr lang="en-US" smtClean="0"/>
              <a:t>6/1/2026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F6768B-A887-496B-87CA-E2FA663FA591}" type="slidenum">
              <a:rPr lang="en-US" smtClean="0"/>
              <a:t>‹#›</a:t>
            </a:fld>
            <a:endParaRPr lang="en-US"/>
          </a:p>
        </p:txBody>
      </p:sp>
    </p:spTree>
    <p:extLst>
      <p:ext uri="{BB962C8B-B14F-4D97-AF65-F5344CB8AC3E}">
        <p14:creationId xmlns:p14="http://schemas.microsoft.com/office/powerpoint/2010/main" val="22884311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A57D96C-479C-4640-88FF-54F87AFE3AC4}" type="datetimeFigureOut">
              <a:rPr lang="en-US" smtClean="0"/>
              <a:t>6/1/2026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F6768B-A887-496B-87CA-E2FA663FA591}" type="slidenum">
              <a:rPr lang="en-US" smtClean="0"/>
              <a:t>‹#›</a:t>
            </a:fld>
            <a:endParaRPr lang="en-US"/>
          </a:p>
        </p:txBody>
      </p:sp>
    </p:spTree>
    <p:extLst>
      <p:ext uri="{BB962C8B-B14F-4D97-AF65-F5344CB8AC3E}">
        <p14:creationId xmlns:p14="http://schemas.microsoft.com/office/powerpoint/2010/main" val="13162988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932316" y="2631057"/>
            <a:ext cx="8471141" cy="1077218"/>
          </a:xfrm>
          <a:prstGeom prst="rect">
            <a:avLst/>
          </a:prstGeom>
          <a:noFill/>
        </p:spPr>
        <p:txBody>
          <a:bodyPr wrap="square" rtlCol="0">
            <a:spAutoFit/>
          </a:bodyPr>
          <a:lstStyle/>
          <a:p>
            <a:pPr algn="ctr"/>
            <a:r>
              <a:rPr lang="en-US" sz="3200" b="1" dirty="0" smtClean="0">
                <a:latin typeface="Times New Roman" panose="02020603050405020304" pitchFamily="18" charset="0"/>
                <a:cs typeface="Times New Roman" panose="02020603050405020304" pitchFamily="18" charset="0"/>
              </a:rPr>
              <a:t>ĐỀ TÀI: NGHIÊN CỨU LIỆU PHÁP CBT CHO HỖ TRỢ THAM VẤN TÂM THẦN</a:t>
            </a:r>
            <a:endParaRPr lang="en-US" sz="3200" b="1" dirty="0">
              <a:latin typeface="Times New Roman" panose="02020603050405020304" pitchFamily="18" charset="0"/>
              <a:cs typeface="Times New Roman" panose="02020603050405020304" pitchFamily="18" charset="0"/>
            </a:endParaRPr>
          </a:p>
        </p:txBody>
      </p:sp>
      <p:sp>
        <p:nvSpPr>
          <p:cNvPr id="5" name="TextBox 4"/>
          <p:cNvSpPr txBox="1"/>
          <p:nvPr/>
        </p:nvSpPr>
        <p:spPr>
          <a:xfrm>
            <a:off x="3925018" y="4097547"/>
            <a:ext cx="4485736" cy="369332"/>
          </a:xfrm>
          <a:prstGeom prst="rect">
            <a:avLst/>
          </a:prstGeom>
          <a:noFill/>
        </p:spPr>
        <p:txBody>
          <a:bodyPr wrap="square" rtlCol="0">
            <a:spAutoFit/>
          </a:bodyPr>
          <a:lstStyle/>
          <a:p>
            <a:r>
              <a:rPr lang="en-US" dirty="0" err="1" smtClean="0">
                <a:latin typeface="Times New Roman" panose="02020603050405020304" pitchFamily="18" charset="0"/>
                <a:cs typeface="Times New Roman" panose="02020603050405020304" pitchFamily="18" charset="0"/>
              </a:rPr>
              <a:t>Sinh</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viên</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thực</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hiện</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Nguyễn</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Thành</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Huy</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5917028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02256" y="1181818"/>
            <a:ext cx="7470475" cy="1015663"/>
          </a:xfrm>
          <a:prstGeom prst="rect">
            <a:avLst/>
          </a:prstGeom>
          <a:noFill/>
        </p:spPr>
        <p:txBody>
          <a:bodyPr wrap="square" rtlCol="0">
            <a:spAutoFit/>
          </a:bodyPr>
          <a:lstStyle/>
          <a:p>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Đề</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tài</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hướng</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đến</a:t>
            </a:r>
            <a:r>
              <a:rPr lang="en-US" sz="2000" dirty="0" smtClean="0">
                <a:latin typeface="Times New Roman" panose="02020603050405020304" pitchFamily="18" charset="0"/>
                <a:cs typeface="Times New Roman" panose="02020603050405020304" pitchFamily="18" charset="0"/>
              </a:rPr>
              <a:t> mental health </a:t>
            </a:r>
            <a:r>
              <a:rPr lang="en-US" sz="2000" dirty="0" err="1" smtClean="0">
                <a:latin typeface="Times New Roman" panose="02020603050405020304" pitchFamily="18" charset="0"/>
                <a:cs typeface="Times New Roman" panose="02020603050405020304" pitchFamily="18" charset="0"/>
              </a:rPr>
              <a:t>và</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hướng</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đến</a:t>
            </a:r>
            <a:r>
              <a:rPr lang="en-US" sz="2000" dirty="0" smtClean="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một</a:t>
            </a:r>
            <a:r>
              <a:rPr lang="en-US" sz="2000" dirty="0">
                <a:latin typeface="Times New Roman" panose="02020603050405020304" pitchFamily="18" charset="0"/>
                <a:cs typeface="Times New Roman" panose="02020603050405020304" pitchFamily="18" charset="0"/>
              </a:rPr>
              <a:t> CBT assistant </a:t>
            </a:r>
            <a:r>
              <a:rPr lang="en-US" sz="2000" dirty="0" err="1">
                <a:latin typeface="Times New Roman" panose="02020603050405020304" pitchFamily="18" charset="0"/>
                <a:cs typeface="Times New Roman" panose="02020603050405020304" pitchFamily="18" charset="0"/>
              </a:rPr>
              <a:t>và</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cũng</a:t>
            </a:r>
            <a:r>
              <a:rPr lang="en-US" sz="2000" dirty="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là</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hệ</a:t>
            </a:r>
            <a:r>
              <a:rPr lang="en-US" sz="2000" dirty="0" smtClean="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thống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hỗ</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trợ</a:t>
            </a:r>
            <a:r>
              <a:rPr lang="en-US" sz="2000" dirty="0">
                <a:latin typeface="Times New Roman" panose="02020603050405020304" pitchFamily="18" charset="0"/>
                <a:cs typeface="Times New Roman" panose="02020603050405020304" pitchFamily="18" charset="0"/>
              </a:rPr>
              <a:t> clinician</a:t>
            </a:r>
          </a:p>
          <a:p>
            <a:endParaRPr lang="en-US" sz="2000" dirty="0">
              <a:latin typeface="Times New Roman" panose="02020603050405020304" pitchFamily="18" charset="0"/>
              <a:cs typeface="Times New Roman" panose="02020603050405020304" pitchFamily="18" charset="0"/>
            </a:endParaRPr>
          </a:p>
        </p:txBody>
      </p:sp>
      <p:sp>
        <p:nvSpPr>
          <p:cNvPr id="5" name="TextBox 4"/>
          <p:cNvSpPr txBox="1"/>
          <p:nvPr/>
        </p:nvSpPr>
        <p:spPr>
          <a:xfrm>
            <a:off x="707366" y="2225918"/>
            <a:ext cx="5339751" cy="400110"/>
          </a:xfrm>
          <a:prstGeom prst="rect">
            <a:avLst/>
          </a:prstGeom>
          <a:noFill/>
        </p:spPr>
        <p:txBody>
          <a:bodyPr wrap="square" rtlCol="0">
            <a:spAutoFit/>
          </a:bodyPr>
          <a:lstStyle/>
          <a:p>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Vai</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trò</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của</a:t>
            </a:r>
            <a:r>
              <a:rPr lang="en-US" sz="2000" dirty="0" smtClean="0">
                <a:latin typeface="Times New Roman" panose="02020603050405020304" pitchFamily="18" charset="0"/>
                <a:cs typeface="Times New Roman" panose="02020603050405020304" pitchFamily="18" charset="0"/>
              </a:rPr>
              <a:t>  assistant</a:t>
            </a:r>
            <a:endParaRPr lang="en-US" sz="2000" dirty="0">
              <a:latin typeface="Times New Roman" panose="02020603050405020304" pitchFamily="18" charset="0"/>
              <a:cs typeface="Times New Roman" panose="02020603050405020304" pitchFamily="18" charset="0"/>
            </a:endParaRPr>
          </a:p>
        </p:txBody>
      </p:sp>
      <p:sp>
        <p:nvSpPr>
          <p:cNvPr id="6" name="Rectangle 1"/>
          <p:cNvSpPr>
            <a:spLocks noChangeArrowheads="1"/>
          </p:cNvSpPr>
          <p:nvPr/>
        </p:nvSpPr>
        <p:spPr bwMode="auto">
          <a:xfrm>
            <a:off x="646981" y="2260814"/>
            <a:ext cx="4392549"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sz="2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hỏi</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sz="2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thêm</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sz="2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để</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sz="2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khám</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sz="2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phá</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sz="2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suy</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sz="2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nghĩ</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sz="2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dùng</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sz="2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kỹ</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sz="2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thuật</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sz="2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decatastrophizing</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sz="2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giúp</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sz="2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nhìn</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sz="2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vấn</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sz="2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đề</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sz="2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theo</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sz="2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góc</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sz="2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khác</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sz="2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khuyến</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sz="2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khích</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sz="2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hành</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sz="2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động</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sz="2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nhỏ</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sz="2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tích</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sz="2000" b="0" i="0" u="sng"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cực</a:t>
            </a:r>
            <a:r>
              <a:rPr kumimoji="0" lang="en-US" sz="2000" b="0" i="0" u="sng"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p>
        </p:txBody>
      </p:sp>
      <p:sp>
        <p:nvSpPr>
          <p:cNvPr id="7" name="Rectangle 6"/>
          <p:cNvSpPr/>
          <p:nvPr/>
        </p:nvSpPr>
        <p:spPr>
          <a:xfrm>
            <a:off x="6788988" y="2197481"/>
            <a:ext cx="6096000" cy="1631216"/>
          </a:xfrm>
          <a:prstGeom prst="rect">
            <a:avLst/>
          </a:prstGeom>
        </p:spPr>
        <p:txBody>
          <a:bodyPr>
            <a:spAutoFit/>
          </a:bodyPr>
          <a:lstStyle/>
          <a:p>
            <a:r>
              <a:rPr lang="en-US" sz="2000" dirty="0" smtClean="0">
                <a:latin typeface="Times New Roman" panose="02020603050405020304" pitchFamily="18" charset="0"/>
                <a:cs typeface="Times New Roman" panose="02020603050405020304" pitchFamily="18" charset="0"/>
              </a:rPr>
              <a:t>- Clinician </a:t>
            </a:r>
            <a:r>
              <a:rPr lang="en-US" sz="2000" dirty="0" err="1" smtClean="0">
                <a:latin typeface="Times New Roman" panose="02020603050405020304" pitchFamily="18" charset="0"/>
                <a:cs typeface="Times New Roman" panose="02020603050405020304" pitchFamily="18" charset="0"/>
              </a:rPr>
              <a:t>nghĩa</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là</a:t>
            </a:r>
            <a:r>
              <a:rPr lang="en-US" sz="2000" dirty="0" smtClean="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000" dirty="0" err="1" smtClean="0">
                <a:latin typeface="Times New Roman" panose="02020603050405020304" pitchFamily="18" charset="0"/>
                <a:cs typeface="Times New Roman" panose="02020603050405020304" pitchFamily="18" charset="0"/>
              </a:rPr>
              <a:t>nhà</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tâm</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lý</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học</a:t>
            </a:r>
            <a:r>
              <a:rPr lang="en-US" sz="2000" dirty="0" smtClean="0">
                <a:latin typeface="Times New Roman" panose="02020603050405020304" pitchFamily="18" charset="0"/>
                <a:cs typeface="Times New Roman" panose="02020603050405020304" pitchFamily="18" charset="0"/>
              </a:rPr>
              <a:t> </a:t>
            </a:r>
          </a:p>
          <a:p>
            <a:pPr marL="342900" indent="-342900">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therapist </a:t>
            </a:r>
          </a:p>
          <a:p>
            <a:pPr marL="342900" indent="-342900">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counselor </a:t>
            </a:r>
          </a:p>
          <a:p>
            <a:pPr marL="342900" indent="-342900">
              <a:buFont typeface="Arial" panose="020B0604020202020204" pitchFamily="34" charset="0"/>
              <a:buChar char="•"/>
            </a:pPr>
            <a:r>
              <a:rPr lang="en-US" sz="2000" dirty="0" err="1" smtClean="0">
                <a:latin typeface="Times New Roman" panose="02020603050405020304" pitchFamily="18" charset="0"/>
                <a:cs typeface="Times New Roman" panose="02020603050405020304" pitchFamily="18" charset="0"/>
              </a:rPr>
              <a:t>chuyên</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gia</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sức</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khỏe</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tâm</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thần</a:t>
            </a:r>
            <a:endParaRPr lang="en-US" sz="2000" dirty="0">
              <a:latin typeface="Times New Roman" panose="02020603050405020304" pitchFamily="18" charset="0"/>
              <a:cs typeface="Times New Roman" panose="02020603050405020304" pitchFamily="18" charset="0"/>
            </a:endParaRPr>
          </a:p>
        </p:txBody>
      </p:sp>
      <p:sp>
        <p:nvSpPr>
          <p:cNvPr id="8" name="TextBox 7"/>
          <p:cNvSpPr txBox="1"/>
          <p:nvPr/>
        </p:nvSpPr>
        <p:spPr>
          <a:xfrm>
            <a:off x="802256" y="559806"/>
            <a:ext cx="7470475" cy="400110"/>
          </a:xfrm>
          <a:prstGeom prst="rect">
            <a:avLst/>
          </a:prstGeom>
          <a:noFill/>
        </p:spPr>
        <p:txBody>
          <a:bodyPr wrap="square" rtlCol="0">
            <a:spAutoFit/>
          </a:bodyPr>
          <a:lstStyle/>
          <a:p>
            <a:r>
              <a:rPr lang="en-US" sz="2000" b="1" dirty="0" smtClean="0">
                <a:latin typeface="Times New Roman" panose="02020603050405020304" pitchFamily="18" charset="0"/>
                <a:cs typeface="Times New Roman" panose="02020603050405020304" pitchFamily="18" charset="0"/>
              </a:rPr>
              <a:t>Ý </a:t>
            </a:r>
            <a:r>
              <a:rPr lang="en-US" sz="2000" b="1" dirty="0" err="1" smtClean="0">
                <a:latin typeface="Times New Roman" panose="02020603050405020304" pitchFamily="18" charset="0"/>
                <a:cs typeface="Times New Roman" panose="02020603050405020304" pitchFamily="18" charset="0"/>
              </a:rPr>
              <a:t>Tưởng</a:t>
            </a:r>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897194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61049" y="767751"/>
            <a:ext cx="4770408" cy="369332"/>
          </a:xfrm>
          <a:prstGeom prst="rect">
            <a:avLst/>
          </a:prstGeom>
          <a:noFill/>
        </p:spPr>
        <p:txBody>
          <a:bodyPr wrap="square" rtlCol="0">
            <a:spAutoFit/>
          </a:bodyPr>
          <a:lstStyle/>
          <a:p>
            <a:r>
              <a:rPr lang="en-US" b="1" dirty="0" err="1" smtClean="0">
                <a:latin typeface="Times New Roman" panose="02020603050405020304" pitchFamily="18" charset="0"/>
                <a:cs typeface="Times New Roman" panose="02020603050405020304" pitchFamily="18" charset="0"/>
              </a:rPr>
              <a:t>Định</a:t>
            </a:r>
            <a:r>
              <a:rPr lang="en-US" b="1" dirty="0">
                <a:latin typeface="Times New Roman" panose="02020603050405020304" pitchFamily="18" charset="0"/>
                <a:cs typeface="Times New Roman" panose="02020603050405020304" pitchFamily="18" charset="0"/>
              </a:rPr>
              <a:t> </a:t>
            </a:r>
            <a:r>
              <a:rPr lang="en-US" b="1" dirty="0" err="1" smtClean="0">
                <a:latin typeface="Times New Roman" panose="02020603050405020304" pitchFamily="18" charset="0"/>
                <a:cs typeface="Times New Roman" panose="02020603050405020304" pitchFamily="18" charset="0"/>
              </a:rPr>
              <a:t>Nghĩa</a:t>
            </a:r>
            <a:r>
              <a:rPr lang="en-US" b="1" dirty="0" smtClean="0">
                <a:latin typeface="Times New Roman" panose="02020603050405020304" pitchFamily="18" charset="0"/>
                <a:cs typeface="Times New Roman" panose="02020603050405020304" pitchFamily="18" charset="0"/>
              </a:rPr>
              <a:t> CBT </a:t>
            </a:r>
            <a:r>
              <a:rPr lang="en-US" b="1" dirty="0" err="1" smtClean="0">
                <a:latin typeface="Times New Roman" panose="02020603050405020304" pitchFamily="18" charset="0"/>
                <a:cs typeface="Times New Roman" panose="02020603050405020304" pitchFamily="18" charset="0"/>
              </a:rPr>
              <a:t>là</a:t>
            </a:r>
            <a:r>
              <a:rPr lang="en-US" b="1" dirty="0" smtClean="0">
                <a:latin typeface="Times New Roman" panose="02020603050405020304" pitchFamily="18" charset="0"/>
                <a:cs typeface="Times New Roman" panose="02020603050405020304" pitchFamily="18" charset="0"/>
              </a:rPr>
              <a:t> </a:t>
            </a:r>
            <a:r>
              <a:rPr lang="en-US" b="1" dirty="0" err="1" smtClean="0">
                <a:latin typeface="Times New Roman" panose="02020603050405020304" pitchFamily="18" charset="0"/>
                <a:cs typeface="Times New Roman" panose="02020603050405020304" pitchFamily="18" charset="0"/>
              </a:rPr>
              <a:t>gì</a:t>
            </a:r>
            <a:r>
              <a:rPr lang="en-US" b="1" dirty="0" smtClean="0">
                <a:latin typeface="Times New Roman" panose="02020603050405020304" pitchFamily="18" charset="0"/>
                <a:cs typeface="Times New Roman" panose="02020603050405020304" pitchFamily="18" charset="0"/>
              </a:rPr>
              <a:t> ? </a:t>
            </a:r>
            <a:endParaRPr lang="en-US" b="1" dirty="0">
              <a:latin typeface="Times New Roman" panose="02020603050405020304" pitchFamily="18" charset="0"/>
              <a:cs typeface="Times New Roman" panose="02020603050405020304" pitchFamily="18" charset="0"/>
            </a:endParaRPr>
          </a:p>
        </p:txBody>
      </p:sp>
      <p:sp>
        <p:nvSpPr>
          <p:cNvPr id="5" name="Rectangle 4"/>
          <p:cNvSpPr/>
          <p:nvPr/>
        </p:nvSpPr>
        <p:spPr>
          <a:xfrm>
            <a:off x="1061049" y="1467293"/>
            <a:ext cx="2988960" cy="369332"/>
          </a:xfrm>
          <a:prstGeom prst="rect">
            <a:avLst/>
          </a:prstGeom>
        </p:spPr>
        <p:txBody>
          <a:bodyPr wrap="none">
            <a:spAutoFit/>
          </a:bodyPr>
          <a:lstStyle/>
          <a:p>
            <a:r>
              <a:rPr lang="en-US" dirty="0" smtClean="0">
                <a:latin typeface="Times New Roman" panose="02020603050405020304" pitchFamily="18" charset="0"/>
                <a:cs typeface="Times New Roman" panose="02020603050405020304" pitchFamily="18" charset="0"/>
              </a:rPr>
              <a:t>Cognitive Behavioral Therapy</a:t>
            </a:r>
            <a:endParaRPr lang="en-US" dirty="0">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29993" y="1720699"/>
            <a:ext cx="4712526" cy="3135972"/>
          </a:xfrm>
          <a:prstGeom prst="rect">
            <a:avLst/>
          </a:prstGeom>
        </p:spPr>
      </p:pic>
      <p:sp>
        <p:nvSpPr>
          <p:cNvPr id="8" name="Rectangle 7"/>
          <p:cNvSpPr/>
          <p:nvPr/>
        </p:nvSpPr>
        <p:spPr>
          <a:xfrm>
            <a:off x="1061049" y="2092624"/>
            <a:ext cx="4770408" cy="2031325"/>
          </a:xfrm>
          <a:prstGeom prst="rect">
            <a:avLst/>
          </a:prstGeom>
        </p:spPr>
        <p:txBody>
          <a:bodyPr wrap="square">
            <a:spAutoFit/>
          </a:bodyPr>
          <a:lstStyle/>
          <a:p>
            <a:r>
              <a:rPr lang="vi-VN" dirty="0">
                <a:latin typeface="Times New Roman" panose="02020603050405020304" pitchFamily="18" charset="0"/>
                <a:cs typeface="Times New Roman" panose="02020603050405020304" pitchFamily="18" charset="0"/>
              </a:rPr>
              <a:t>CBT là phương pháp thực chứng, thường được ứng dụng để hỗ trợ và điều trị trong các trường hợp:</a:t>
            </a:r>
          </a:p>
          <a:p>
            <a:pPr marL="285750" indent="-285750">
              <a:buFont typeface="Arial" panose="020B0604020202020204" pitchFamily="34" charset="0"/>
              <a:buChar char="•"/>
            </a:pPr>
            <a:r>
              <a:rPr lang="vi-VN" dirty="0">
                <a:latin typeface="Times New Roman" panose="02020603050405020304" pitchFamily="18" charset="0"/>
                <a:cs typeface="Times New Roman" panose="02020603050405020304" pitchFamily="18" charset="0"/>
              </a:rPr>
              <a:t>Rối loạn lo âu.</a:t>
            </a:r>
          </a:p>
          <a:p>
            <a:pPr marL="285750" indent="-285750">
              <a:buFont typeface="Arial" panose="020B0604020202020204" pitchFamily="34" charset="0"/>
              <a:buChar char="•"/>
            </a:pPr>
            <a:r>
              <a:rPr lang="vi-VN" dirty="0">
                <a:latin typeface="Times New Roman" panose="02020603050405020304" pitchFamily="18" charset="0"/>
                <a:cs typeface="Times New Roman" panose="02020603050405020304" pitchFamily="18" charset="0"/>
              </a:rPr>
              <a:t>Trầm cảm.</a:t>
            </a:r>
          </a:p>
          <a:p>
            <a:pPr marL="285750" indent="-285750">
              <a:buFont typeface="Arial" panose="020B0604020202020204" pitchFamily="34" charset="0"/>
              <a:buChar char="•"/>
            </a:pPr>
            <a:r>
              <a:rPr lang="vi-VN" dirty="0">
                <a:latin typeface="Times New Roman" panose="02020603050405020304" pitchFamily="18" charset="0"/>
                <a:cs typeface="Times New Roman" panose="02020603050405020304" pitchFamily="18" charset="0"/>
              </a:rPr>
              <a:t>Mất ngủ (thông qua liệu </a:t>
            </a:r>
            <a:r>
              <a:rPr lang="vi-VN" dirty="0" smtClean="0">
                <a:latin typeface="Times New Roman" panose="02020603050405020304" pitchFamily="18" charset="0"/>
                <a:cs typeface="Times New Roman" panose="02020603050405020304" pitchFamily="18" charset="0"/>
              </a:rPr>
              <a:t>pháp).</a:t>
            </a:r>
            <a:endParaRPr lang="vi-V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vi-VN" dirty="0">
                <a:latin typeface="Times New Roman" panose="02020603050405020304" pitchFamily="18" charset="0"/>
                <a:cs typeface="Times New Roman" panose="02020603050405020304" pitchFamily="18" charset="0"/>
              </a:rPr>
              <a:t>Kiểm soát cơn giận hoặc sang chấn tâm lý.</a:t>
            </a:r>
          </a:p>
        </p:txBody>
      </p:sp>
    </p:spTree>
    <p:extLst>
      <p:ext uri="{BB962C8B-B14F-4D97-AF65-F5344CB8AC3E}">
        <p14:creationId xmlns:p14="http://schemas.microsoft.com/office/powerpoint/2010/main" val="37653048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19509" y="603849"/>
            <a:ext cx="3614468" cy="400110"/>
          </a:xfrm>
          <a:prstGeom prst="rect">
            <a:avLst/>
          </a:prstGeom>
          <a:noFill/>
        </p:spPr>
        <p:txBody>
          <a:bodyPr wrap="square" rtlCol="0">
            <a:spAutoFit/>
          </a:bodyPr>
          <a:lstStyle/>
          <a:p>
            <a:r>
              <a:rPr lang="en-US" sz="2000" b="1" dirty="0" smtClean="0">
                <a:latin typeface="Times New Roman" panose="02020603050405020304" pitchFamily="18" charset="0"/>
                <a:cs typeface="Times New Roman" panose="02020603050405020304" pitchFamily="18" charset="0"/>
              </a:rPr>
              <a:t>Dataset</a:t>
            </a:r>
            <a:endParaRPr lang="en-US" sz="2000" b="1" dirty="0">
              <a:latin typeface="Times New Roman" panose="02020603050405020304" pitchFamily="18" charset="0"/>
              <a:cs typeface="Times New Roman" panose="02020603050405020304" pitchFamily="18" charset="0"/>
            </a:endParaRPr>
          </a:p>
        </p:txBody>
      </p:sp>
      <p:sp>
        <p:nvSpPr>
          <p:cNvPr id="5" name="Rectangle 4"/>
          <p:cNvSpPr/>
          <p:nvPr/>
        </p:nvSpPr>
        <p:spPr>
          <a:xfrm>
            <a:off x="806569" y="1217127"/>
            <a:ext cx="4498347" cy="400110"/>
          </a:xfrm>
          <a:prstGeom prst="rect">
            <a:avLst/>
          </a:prstGeom>
        </p:spPr>
        <p:txBody>
          <a:bodyPr wrap="none">
            <a:spAutoFit/>
          </a:bodyPr>
          <a:lstStyle/>
          <a:p>
            <a:r>
              <a:rPr lang="en-US" sz="2000" dirty="0" smtClean="0">
                <a:latin typeface="Times New Roman" panose="02020603050405020304" pitchFamily="18" charset="0"/>
                <a:cs typeface="Times New Roman" panose="02020603050405020304" pitchFamily="18" charset="0"/>
              </a:rPr>
              <a:t>Dataset </a:t>
            </a:r>
            <a:r>
              <a:rPr lang="en-US" sz="2000" dirty="0" err="1" smtClean="0">
                <a:latin typeface="Times New Roman" panose="02020603050405020304" pitchFamily="18" charset="0"/>
                <a:cs typeface="Times New Roman" panose="02020603050405020304" pitchFamily="18" charset="0"/>
              </a:rPr>
              <a:t>được</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lấy</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từ</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LangAGI</a:t>
            </a:r>
            <a:r>
              <a:rPr lang="en-US" sz="2000" dirty="0" smtClean="0">
                <a:latin typeface="Times New Roman" panose="02020603050405020304" pitchFamily="18" charset="0"/>
                <a:cs typeface="Times New Roman" panose="02020603050405020304" pitchFamily="18" charset="0"/>
              </a:rPr>
              <a:t>-Lab/cactus</a:t>
            </a:r>
            <a:endParaRPr lang="en-US" sz="2000" dirty="0">
              <a:latin typeface="Times New Roman" panose="02020603050405020304" pitchFamily="18" charset="0"/>
              <a:cs typeface="Times New Roman" panose="02020603050405020304" pitchFamily="18" charset="0"/>
            </a:endParaRPr>
          </a:p>
        </p:txBody>
      </p:sp>
      <p:sp>
        <p:nvSpPr>
          <p:cNvPr id="6" name="TextBox 5"/>
          <p:cNvSpPr txBox="1"/>
          <p:nvPr/>
        </p:nvSpPr>
        <p:spPr>
          <a:xfrm>
            <a:off x="1000664" y="1768415"/>
            <a:ext cx="4425351" cy="1323439"/>
          </a:xfrm>
          <a:prstGeom prst="rect">
            <a:avLst/>
          </a:prstGeom>
          <a:noFill/>
        </p:spPr>
        <p:txBody>
          <a:bodyPr wrap="square" rtlCol="0">
            <a:spAutoFit/>
          </a:bodyPr>
          <a:lstStyle/>
          <a:p>
            <a:pPr marL="285750" indent="-285750">
              <a:buFontTx/>
              <a:buChar char="-"/>
            </a:pPr>
            <a:r>
              <a:rPr lang="en-US" sz="2000" dirty="0" err="1" smtClean="0">
                <a:latin typeface="Times New Roman" panose="02020603050405020304" pitchFamily="18" charset="0"/>
                <a:cs typeface="Times New Roman" panose="02020603050405020304" pitchFamily="18" charset="0"/>
              </a:rPr>
              <a:t>Dữ</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liệu</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gồm</a:t>
            </a:r>
            <a:r>
              <a:rPr lang="en-US" sz="2000" dirty="0" smtClean="0">
                <a:latin typeface="Times New Roman" panose="02020603050405020304" pitchFamily="18" charset="0"/>
                <a:cs typeface="Times New Roman" panose="02020603050405020304" pitchFamily="18" charset="0"/>
              </a:rPr>
              <a:t> 7 </a:t>
            </a:r>
            <a:r>
              <a:rPr lang="en-US" sz="2000" dirty="0" err="1" smtClean="0">
                <a:latin typeface="Times New Roman" panose="02020603050405020304" pitchFamily="18" charset="0"/>
                <a:cs typeface="Times New Roman" panose="02020603050405020304" pitchFamily="18" charset="0"/>
              </a:rPr>
              <a:t>cột</a:t>
            </a:r>
            <a:r>
              <a:rPr lang="en-US" sz="2000" dirty="0" smtClean="0">
                <a:latin typeface="Times New Roman" panose="02020603050405020304" pitchFamily="18" charset="0"/>
                <a:cs typeface="Times New Roman" panose="02020603050405020304" pitchFamily="18" charset="0"/>
              </a:rPr>
              <a:t> -&gt; </a:t>
            </a:r>
            <a:r>
              <a:rPr lang="en-US" sz="2000" dirty="0" err="1" smtClean="0">
                <a:latin typeface="Times New Roman" panose="02020603050405020304" pitchFamily="18" charset="0"/>
                <a:cs typeface="Times New Roman" panose="02020603050405020304" pitchFamily="18" charset="0"/>
              </a:rPr>
              <a:t>pretrain</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thêm</a:t>
            </a:r>
            <a:r>
              <a:rPr lang="en-US" sz="2000" dirty="0" smtClean="0">
                <a:latin typeface="Times New Roman" panose="02020603050405020304" pitchFamily="18" charset="0"/>
                <a:cs typeface="Times New Roman" panose="02020603050405020304" pitchFamily="18" charset="0"/>
              </a:rPr>
              <a:t> 2 </a:t>
            </a:r>
            <a:r>
              <a:rPr lang="en-US" sz="2000" dirty="0" err="1" smtClean="0">
                <a:latin typeface="Times New Roman" panose="02020603050405020304" pitchFamily="18" charset="0"/>
                <a:cs typeface="Times New Roman" panose="02020603050405020304" pitchFamily="18" charset="0"/>
              </a:rPr>
              <a:t>cột</a:t>
            </a:r>
            <a:r>
              <a:rPr lang="en-US" sz="2000" dirty="0" smtClean="0">
                <a:latin typeface="Times New Roman" panose="02020603050405020304" pitchFamily="18" charset="0"/>
                <a:cs typeface="Times New Roman" panose="02020603050405020304" pitchFamily="18" charset="0"/>
              </a:rPr>
              <a:t> emotion </a:t>
            </a:r>
            <a:r>
              <a:rPr lang="en-US" sz="2000" dirty="0" err="1" smtClean="0">
                <a:latin typeface="Times New Roman" panose="02020603050405020304" pitchFamily="18" charset="0"/>
                <a:cs typeface="Times New Roman" panose="02020603050405020304" pitchFamily="18" charset="0"/>
              </a:rPr>
              <a:t>và</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severtity</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với</a:t>
            </a:r>
            <a:r>
              <a:rPr lang="en-US" sz="2000" dirty="0" smtClean="0">
                <a:latin typeface="Times New Roman" panose="02020603050405020304" pitchFamily="18" charset="0"/>
                <a:cs typeface="Times New Roman" panose="02020603050405020304" pitchFamily="18" charset="0"/>
              </a:rPr>
              <a:t> 2 model </a:t>
            </a:r>
            <a:r>
              <a:rPr lang="en-US" sz="2000" dirty="0" err="1" smtClean="0">
                <a:latin typeface="Times New Roman" panose="02020603050405020304" pitchFamily="18" charset="0"/>
                <a:cs typeface="Times New Roman" panose="02020603050405020304" pitchFamily="18" charset="0"/>
              </a:rPr>
              <a:t>tương</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ứng</a:t>
            </a:r>
            <a:endParaRPr lang="en-US" sz="2000" dirty="0" smtClean="0">
              <a:latin typeface="Times New Roman" panose="02020603050405020304" pitchFamily="18" charset="0"/>
              <a:cs typeface="Times New Roman" panose="02020603050405020304" pitchFamily="18" charset="0"/>
            </a:endParaRPr>
          </a:p>
          <a:p>
            <a:pPr marL="285750" indent="-285750">
              <a:buFontTx/>
              <a:buChar char="-"/>
            </a:pPr>
            <a:r>
              <a:rPr lang="en-US" sz="2000" dirty="0" err="1" smtClean="0">
                <a:latin typeface="Times New Roman" panose="02020603050405020304" pitchFamily="18" charset="0"/>
                <a:cs typeface="Times New Roman" panose="02020603050405020304" pitchFamily="18" charset="0"/>
              </a:rPr>
              <a:t>Dữ</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liệu</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gồm</a:t>
            </a:r>
            <a:r>
              <a:rPr lang="en-US" sz="2000" dirty="0" smtClean="0">
                <a:latin typeface="Times New Roman" panose="02020603050405020304" pitchFamily="18" charset="0"/>
                <a:cs typeface="Times New Roman" panose="02020603050405020304" pitchFamily="18" charset="0"/>
              </a:rPr>
              <a:t> 31,557 </a:t>
            </a:r>
            <a:r>
              <a:rPr lang="en-US" sz="2000" dirty="0" err="1" smtClean="0">
                <a:latin typeface="Times New Roman" panose="02020603050405020304" pitchFamily="18" charset="0"/>
                <a:cs typeface="Times New Roman" panose="02020603050405020304" pitchFamily="18" charset="0"/>
              </a:rPr>
              <a:t>dữ</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liệu</a:t>
            </a:r>
            <a:r>
              <a:rPr lang="en-US" sz="2000" dirty="0" smtClean="0">
                <a:latin typeface="Times New Roman" panose="02020603050405020304" pitchFamily="18" charset="0"/>
                <a:cs typeface="Times New Roman" panose="02020603050405020304" pitchFamily="18" charset="0"/>
              </a:rPr>
              <a:t> </a:t>
            </a:r>
            <a:endParaRPr lang="en-US" sz="2000" dirty="0">
              <a:latin typeface="Times New Roman" panose="02020603050405020304" pitchFamily="18" charset="0"/>
              <a:cs typeface="Times New Roman" panose="02020603050405020304" pitchFamily="18" charset="0"/>
            </a:endParaRPr>
          </a:p>
        </p:txBody>
      </p:sp>
      <p:graphicFrame>
        <p:nvGraphicFramePr>
          <p:cNvPr id="7" name="Table 6"/>
          <p:cNvGraphicFramePr>
            <a:graphicFrameLocks noGrp="1"/>
          </p:cNvGraphicFramePr>
          <p:nvPr>
            <p:extLst>
              <p:ext uri="{D42A27DB-BD31-4B8C-83A1-F6EECF244321}">
                <p14:modId xmlns:p14="http://schemas.microsoft.com/office/powerpoint/2010/main" val="1488073932"/>
              </p:ext>
            </p:extLst>
          </p:nvPr>
        </p:nvGraphicFramePr>
        <p:xfrm>
          <a:off x="5503653" y="316119"/>
          <a:ext cx="6452558" cy="6119187"/>
        </p:xfrm>
        <a:graphic>
          <a:graphicData uri="http://schemas.openxmlformats.org/drawingml/2006/table">
            <a:tbl>
              <a:tblPr firstRow="1" firstCol="1" bandRow="1">
                <a:tableStyleId>{5C22544A-7EE6-4342-B048-85BDC9FD1C3A}</a:tableStyleId>
              </a:tblPr>
              <a:tblGrid>
                <a:gridCol w="1179500"/>
                <a:gridCol w="624441"/>
                <a:gridCol w="2567147"/>
                <a:gridCol w="2081470"/>
              </a:tblGrid>
              <a:tr h="313122">
                <a:tc>
                  <a:txBody>
                    <a:bodyPr/>
                    <a:lstStyle/>
                    <a:p>
                      <a:pPr algn="ctr">
                        <a:lnSpc>
                          <a:spcPct val="115000"/>
                        </a:lnSpc>
                        <a:spcBef>
                          <a:spcPts val="100"/>
                        </a:spcBef>
                        <a:spcAft>
                          <a:spcPts val="100"/>
                        </a:spcAft>
                      </a:pPr>
                      <a:r>
                        <a:rPr lang="en-US" sz="1300" dirty="0" err="1">
                          <a:solidFill>
                            <a:schemeClr val="tx1"/>
                          </a:solidFill>
                          <a:effectLst/>
                          <a:latin typeface="Times New Roman" panose="02020603050405020304" pitchFamily="18" charset="0"/>
                          <a:cs typeface="Times New Roman" panose="02020603050405020304" pitchFamily="18" charset="0"/>
                        </a:rPr>
                        <a:t>Tên</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cột</a:t>
                      </a:r>
                      <a:endParaRPr lang="en-US" sz="13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18" marR="59218" marT="29609" marB="296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Bef>
                          <a:spcPts val="100"/>
                        </a:spcBef>
                        <a:spcAft>
                          <a:spcPts val="100"/>
                        </a:spcAft>
                      </a:pPr>
                      <a:r>
                        <a:rPr lang="en-US" sz="1300" dirty="0" err="1">
                          <a:solidFill>
                            <a:schemeClr val="tx1"/>
                          </a:solidFill>
                          <a:effectLst/>
                          <a:latin typeface="Times New Roman" panose="02020603050405020304" pitchFamily="18" charset="0"/>
                          <a:cs typeface="Times New Roman" panose="02020603050405020304" pitchFamily="18" charset="0"/>
                        </a:rPr>
                        <a:t>Kiểu</a:t>
                      </a:r>
                      <a:endParaRPr lang="en-US" sz="13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18" marR="59218" marT="29609" marB="296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Bef>
                          <a:spcPts val="100"/>
                        </a:spcBef>
                        <a:spcAft>
                          <a:spcPts val="100"/>
                        </a:spcAft>
                      </a:pPr>
                      <a:r>
                        <a:rPr lang="en-US" sz="1300" dirty="0">
                          <a:solidFill>
                            <a:schemeClr val="tx1"/>
                          </a:solidFill>
                          <a:effectLst/>
                          <a:latin typeface="Times New Roman" panose="02020603050405020304" pitchFamily="18" charset="0"/>
                          <a:cs typeface="Times New Roman" panose="02020603050405020304" pitchFamily="18" charset="0"/>
                        </a:rPr>
                        <a:t>Ý </a:t>
                      </a:r>
                      <a:r>
                        <a:rPr lang="en-US" sz="1300" dirty="0" err="1">
                          <a:solidFill>
                            <a:schemeClr val="tx1"/>
                          </a:solidFill>
                          <a:effectLst/>
                          <a:latin typeface="Times New Roman" panose="02020603050405020304" pitchFamily="18" charset="0"/>
                          <a:cs typeface="Times New Roman" panose="02020603050405020304" pitchFamily="18" charset="0"/>
                        </a:rPr>
                        <a:t>nghĩa</a:t>
                      </a:r>
                      <a:endParaRPr lang="en-US" sz="13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18" marR="59218" marT="29609" marB="296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Bef>
                          <a:spcPts val="100"/>
                        </a:spcBef>
                        <a:spcAft>
                          <a:spcPts val="100"/>
                        </a:spcAft>
                      </a:pPr>
                      <a:r>
                        <a:rPr lang="en-US" sz="1300">
                          <a:solidFill>
                            <a:schemeClr val="tx1"/>
                          </a:solidFill>
                          <a:effectLst/>
                          <a:latin typeface="Times New Roman" panose="02020603050405020304" pitchFamily="18" charset="0"/>
                          <a:cs typeface="Times New Roman" panose="02020603050405020304" pitchFamily="18" charset="0"/>
                        </a:rPr>
                        <a:t>Ví dụ / phân bố</a:t>
                      </a:r>
                      <a:endParaRPr lang="en-US" sz="13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18" marR="59218" marT="29609" marB="296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542965">
                <a:tc>
                  <a:txBody>
                    <a:bodyPr/>
                    <a:lstStyle/>
                    <a:p>
                      <a:pPr>
                        <a:lnSpc>
                          <a:spcPct val="115000"/>
                        </a:lnSpc>
                        <a:spcBef>
                          <a:spcPts val="100"/>
                        </a:spcBef>
                        <a:spcAft>
                          <a:spcPts val="100"/>
                        </a:spcAft>
                      </a:pPr>
                      <a:r>
                        <a:rPr lang="en-US" sz="1300" dirty="0">
                          <a:solidFill>
                            <a:schemeClr val="tx1"/>
                          </a:solidFill>
                          <a:effectLst/>
                          <a:latin typeface="Times New Roman" panose="02020603050405020304" pitchFamily="18" charset="0"/>
                          <a:cs typeface="Times New Roman" panose="02020603050405020304" pitchFamily="18" charset="0"/>
                        </a:rPr>
                        <a:t>thought</a:t>
                      </a:r>
                      <a:endParaRPr lang="en-US" sz="13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18" marR="59218" marT="29609" marB="296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Bef>
                          <a:spcPts val="100"/>
                        </a:spcBef>
                        <a:spcAft>
                          <a:spcPts val="100"/>
                        </a:spcAft>
                      </a:pPr>
                      <a:r>
                        <a:rPr lang="en-US" sz="1300">
                          <a:solidFill>
                            <a:schemeClr val="tx1"/>
                          </a:solidFill>
                          <a:effectLst/>
                          <a:latin typeface="Times New Roman" panose="02020603050405020304" pitchFamily="18" charset="0"/>
                          <a:cs typeface="Times New Roman" panose="02020603050405020304" pitchFamily="18" charset="0"/>
                        </a:rPr>
                        <a:t>string</a:t>
                      </a:r>
                      <a:endParaRPr lang="en-US" sz="13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18" marR="59218" marT="29609" marB="296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Bef>
                          <a:spcPts val="100"/>
                        </a:spcBef>
                        <a:spcAft>
                          <a:spcPts val="100"/>
                        </a:spcAft>
                      </a:pPr>
                      <a:r>
                        <a:rPr lang="en-US" sz="1300" dirty="0" err="1">
                          <a:solidFill>
                            <a:schemeClr val="tx1"/>
                          </a:solidFill>
                          <a:effectLst/>
                          <a:latin typeface="Times New Roman" panose="02020603050405020304" pitchFamily="18" charset="0"/>
                          <a:cs typeface="Times New Roman" panose="02020603050405020304" pitchFamily="18" charset="0"/>
                        </a:rPr>
                        <a:t>Suy</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nghĩ</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tự</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động</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của</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thân</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chủ</a:t>
                      </a:r>
                      <a:r>
                        <a:rPr lang="en-US" sz="1300" dirty="0">
                          <a:solidFill>
                            <a:schemeClr val="tx1"/>
                          </a:solidFill>
                          <a:effectLst/>
                          <a:latin typeface="Times New Roman" panose="02020603050405020304" pitchFamily="18" charset="0"/>
                          <a:cs typeface="Times New Roman" panose="02020603050405020304" pitchFamily="18" charset="0"/>
                        </a:rPr>
                        <a:t> – </a:t>
                      </a:r>
                      <a:r>
                        <a:rPr lang="en-US" sz="1300" dirty="0" err="1">
                          <a:solidFill>
                            <a:schemeClr val="tx1"/>
                          </a:solidFill>
                          <a:effectLst/>
                          <a:latin typeface="Times New Roman" panose="02020603050405020304" pitchFamily="18" charset="0"/>
                          <a:cs typeface="Times New Roman" panose="02020603050405020304" pitchFamily="18" charset="0"/>
                        </a:rPr>
                        <a:t>tâm</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điểm</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để</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tái</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cấu</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trúc</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nhận</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thức</a:t>
                      </a:r>
                      <a:endParaRPr lang="en-US" sz="13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18" marR="59218" marT="29609" marB="296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Bef>
                          <a:spcPts val="100"/>
                        </a:spcBef>
                        <a:spcAft>
                          <a:spcPts val="100"/>
                        </a:spcAft>
                      </a:pPr>
                      <a:r>
                        <a:rPr lang="en-US" sz="1300" dirty="0">
                          <a:solidFill>
                            <a:schemeClr val="tx1"/>
                          </a:solidFill>
                          <a:effectLst/>
                          <a:latin typeface="Times New Roman" panose="02020603050405020304" pitchFamily="18" charset="0"/>
                          <a:cs typeface="Times New Roman" panose="02020603050405020304" pitchFamily="18" charset="0"/>
                        </a:rPr>
                        <a:t>"Nobody really cares about me."</a:t>
                      </a:r>
                      <a:endParaRPr lang="en-US" sz="13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18" marR="59218" marT="29609" marB="296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542965">
                <a:tc>
                  <a:txBody>
                    <a:bodyPr/>
                    <a:lstStyle/>
                    <a:p>
                      <a:pPr>
                        <a:lnSpc>
                          <a:spcPct val="115000"/>
                        </a:lnSpc>
                        <a:spcBef>
                          <a:spcPts val="100"/>
                        </a:spcBef>
                        <a:spcAft>
                          <a:spcPts val="100"/>
                        </a:spcAft>
                      </a:pPr>
                      <a:r>
                        <a:rPr lang="en-US" sz="1300" dirty="0">
                          <a:solidFill>
                            <a:schemeClr val="tx1"/>
                          </a:solidFill>
                          <a:effectLst/>
                          <a:latin typeface="Times New Roman" panose="02020603050405020304" pitchFamily="18" charset="0"/>
                          <a:cs typeface="Times New Roman" panose="02020603050405020304" pitchFamily="18" charset="0"/>
                        </a:rPr>
                        <a:t>patterns</a:t>
                      </a:r>
                      <a:endParaRPr lang="en-US" sz="13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18" marR="59218" marT="29609" marB="296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Bef>
                          <a:spcPts val="100"/>
                        </a:spcBef>
                        <a:spcAft>
                          <a:spcPts val="100"/>
                        </a:spcAft>
                      </a:pPr>
                      <a:r>
                        <a:rPr lang="en-US" sz="1300" dirty="0">
                          <a:solidFill>
                            <a:schemeClr val="tx1"/>
                          </a:solidFill>
                          <a:effectLst/>
                          <a:latin typeface="Times New Roman" panose="02020603050405020304" pitchFamily="18" charset="0"/>
                          <a:cs typeface="Times New Roman" panose="02020603050405020304" pitchFamily="18" charset="0"/>
                        </a:rPr>
                        <a:t>string</a:t>
                      </a:r>
                      <a:endParaRPr lang="en-US" sz="13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18" marR="59218" marT="29609" marB="296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Bef>
                          <a:spcPts val="100"/>
                        </a:spcBef>
                        <a:spcAft>
                          <a:spcPts val="100"/>
                        </a:spcAft>
                      </a:pPr>
                      <a:r>
                        <a:rPr lang="en-US" sz="1300" dirty="0" err="1">
                          <a:solidFill>
                            <a:schemeClr val="tx1"/>
                          </a:solidFill>
                          <a:effectLst/>
                          <a:latin typeface="Times New Roman" panose="02020603050405020304" pitchFamily="18" charset="0"/>
                          <a:cs typeface="Times New Roman" panose="02020603050405020304" pitchFamily="18" charset="0"/>
                        </a:rPr>
                        <a:t>Một</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hoặc</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nhiều</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kiểu</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bóp</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méo</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nhận</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thức</a:t>
                      </a:r>
                      <a:r>
                        <a:rPr lang="en-US" sz="1300" dirty="0">
                          <a:solidFill>
                            <a:schemeClr val="tx1"/>
                          </a:solidFill>
                          <a:effectLst/>
                          <a:latin typeface="Times New Roman" panose="02020603050405020304" pitchFamily="18" charset="0"/>
                          <a:cs typeface="Times New Roman" panose="02020603050405020304" pitchFamily="18" charset="0"/>
                        </a:rPr>
                        <a:t> (10 </a:t>
                      </a:r>
                      <a:r>
                        <a:rPr lang="en-US" sz="1300" dirty="0" err="1">
                          <a:solidFill>
                            <a:schemeClr val="tx1"/>
                          </a:solidFill>
                          <a:effectLst/>
                          <a:latin typeface="Times New Roman" panose="02020603050405020304" pitchFamily="18" charset="0"/>
                          <a:cs typeface="Times New Roman" panose="02020603050405020304" pitchFamily="18" charset="0"/>
                        </a:rPr>
                        <a:t>nhãn</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PatternReframe</a:t>
                      </a:r>
                      <a:r>
                        <a:rPr lang="en-US" sz="1300" dirty="0">
                          <a:solidFill>
                            <a:schemeClr val="tx1"/>
                          </a:solidFill>
                          <a:effectLst/>
                          <a:latin typeface="Times New Roman" panose="02020603050405020304" pitchFamily="18" charset="0"/>
                          <a:cs typeface="Times New Roman" panose="02020603050405020304" pitchFamily="18" charset="0"/>
                        </a:rPr>
                        <a:t>)</a:t>
                      </a:r>
                      <a:endParaRPr lang="en-US" sz="13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18" marR="59218" marT="29609" marB="296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Bef>
                          <a:spcPts val="100"/>
                        </a:spcBef>
                        <a:spcAft>
                          <a:spcPts val="100"/>
                        </a:spcAft>
                      </a:pPr>
                      <a:r>
                        <a:rPr lang="en-US" sz="1300" dirty="0">
                          <a:solidFill>
                            <a:schemeClr val="tx1"/>
                          </a:solidFill>
                          <a:effectLst/>
                          <a:latin typeface="Times New Roman" panose="02020603050405020304" pitchFamily="18" charset="0"/>
                          <a:cs typeface="Times New Roman" panose="02020603050405020304" pitchFamily="18" charset="0"/>
                        </a:rPr>
                        <a:t>"mind reading, overgeneralization"</a:t>
                      </a:r>
                      <a:endParaRPr lang="en-US" sz="13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18" marR="59218" marT="29609" marB="296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772810">
                <a:tc>
                  <a:txBody>
                    <a:bodyPr/>
                    <a:lstStyle/>
                    <a:p>
                      <a:pPr>
                        <a:lnSpc>
                          <a:spcPct val="115000"/>
                        </a:lnSpc>
                        <a:spcBef>
                          <a:spcPts val="100"/>
                        </a:spcBef>
                        <a:spcAft>
                          <a:spcPts val="100"/>
                        </a:spcAft>
                      </a:pPr>
                      <a:r>
                        <a:rPr lang="en-US" sz="1300" dirty="0" err="1">
                          <a:solidFill>
                            <a:schemeClr val="tx1"/>
                          </a:solidFill>
                          <a:effectLst/>
                          <a:latin typeface="Times New Roman" panose="02020603050405020304" pitchFamily="18" charset="0"/>
                          <a:cs typeface="Times New Roman" panose="02020603050405020304" pitchFamily="18" charset="0"/>
                        </a:rPr>
                        <a:t>intake_form</a:t>
                      </a:r>
                      <a:endParaRPr lang="en-US" sz="13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18" marR="59218" marT="29609" marB="296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Bef>
                          <a:spcPts val="100"/>
                        </a:spcBef>
                        <a:spcAft>
                          <a:spcPts val="100"/>
                        </a:spcAft>
                      </a:pPr>
                      <a:r>
                        <a:rPr lang="en-US" sz="1300" dirty="0">
                          <a:solidFill>
                            <a:schemeClr val="tx1"/>
                          </a:solidFill>
                          <a:effectLst/>
                          <a:latin typeface="Times New Roman" panose="02020603050405020304" pitchFamily="18" charset="0"/>
                          <a:cs typeface="Times New Roman" panose="02020603050405020304" pitchFamily="18" charset="0"/>
                        </a:rPr>
                        <a:t>string</a:t>
                      </a:r>
                      <a:endParaRPr lang="en-US" sz="13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18" marR="59218" marT="29609" marB="296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Bef>
                          <a:spcPts val="100"/>
                        </a:spcBef>
                        <a:spcAft>
                          <a:spcPts val="100"/>
                        </a:spcAft>
                      </a:pPr>
                      <a:r>
                        <a:rPr lang="en-US" sz="1300" dirty="0" err="1">
                          <a:solidFill>
                            <a:schemeClr val="tx1"/>
                          </a:solidFill>
                          <a:effectLst/>
                          <a:latin typeface="Times New Roman" panose="02020603050405020304" pitchFamily="18" charset="0"/>
                          <a:cs typeface="Times New Roman" panose="02020603050405020304" pitchFamily="18" charset="0"/>
                        </a:rPr>
                        <a:t>Hồ</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sơ</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thân</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chủ</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giả</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lập</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gồm</a:t>
                      </a:r>
                      <a:r>
                        <a:rPr lang="en-US" sz="1300" dirty="0">
                          <a:solidFill>
                            <a:schemeClr val="tx1"/>
                          </a:solidFill>
                          <a:effectLst/>
                          <a:latin typeface="Times New Roman" panose="02020603050405020304" pitchFamily="18" charset="0"/>
                          <a:cs typeface="Times New Roman" panose="02020603050405020304" pitchFamily="18" charset="0"/>
                        </a:rPr>
                        <a:t> 6 </a:t>
                      </a:r>
                      <a:r>
                        <a:rPr lang="en-US" sz="1300" dirty="0" err="1">
                          <a:solidFill>
                            <a:schemeClr val="tx1"/>
                          </a:solidFill>
                          <a:effectLst/>
                          <a:latin typeface="Times New Roman" panose="02020603050405020304" pitchFamily="18" charset="0"/>
                          <a:cs typeface="Times New Roman" panose="02020603050405020304" pitchFamily="18" charset="0"/>
                        </a:rPr>
                        <a:t>phần</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nhân</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khẩu</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hoàn</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cảnh</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triệu</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chứng</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lịch</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sử</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mục</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tiêu</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yếu</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tố</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nguy</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cơ</a:t>
                      </a:r>
                      <a:endParaRPr lang="en-US" sz="13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18" marR="59218" marT="29609" marB="296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Bef>
                          <a:spcPts val="100"/>
                        </a:spcBef>
                        <a:spcAft>
                          <a:spcPts val="100"/>
                        </a:spcAft>
                      </a:pPr>
                      <a:r>
                        <a:rPr lang="en-US" sz="1300" dirty="0">
                          <a:solidFill>
                            <a:schemeClr val="tx1"/>
                          </a:solidFill>
                          <a:effectLst/>
                          <a:latin typeface="Times New Roman" panose="02020603050405020304" pitchFamily="18" charset="0"/>
                          <a:cs typeface="Times New Roman" panose="02020603050405020304" pitchFamily="18" charset="0"/>
                        </a:rPr>
                        <a:t>"Name: Sarah. Age: 28..."</a:t>
                      </a:r>
                      <a:endParaRPr lang="en-US" sz="13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18" marR="59218" marT="29609" marB="296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772810">
                <a:tc>
                  <a:txBody>
                    <a:bodyPr/>
                    <a:lstStyle/>
                    <a:p>
                      <a:pPr>
                        <a:lnSpc>
                          <a:spcPct val="115000"/>
                        </a:lnSpc>
                        <a:spcBef>
                          <a:spcPts val="100"/>
                        </a:spcBef>
                        <a:spcAft>
                          <a:spcPts val="100"/>
                        </a:spcAft>
                      </a:pPr>
                      <a:r>
                        <a:rPr lang="en-US" sz="1300" dirty="0" err="1">
                          <a:solidFill>
                            <a:schemeClr val="tx1"/>
                          </a:solidFill>
                          <a:effectLst/>
                          <a:latin typeface="Times New Roman" panose="02020603050405020304" pitchFamily="18" charset="0"/>
                          <a:cs typeface="Times New Roman" panose="02020603050405020304" pitchFamily="18" charset="0"/>
                        </a:rPr>
                        <a:t>cbt_technique</a:t>
                      </a:r>
                      <a:endParaRPr lang="en-US" sz="13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18" marR="59218" marT="29609" marB="296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Bef>
                          <a:spcPts val="100"/>
                        </a:spcBef>
                        <a:spcAft>
                          <a:spcPts val="100"/>
                        </a:spcAft>
                      </a:pPr>
                      <a:r>
                        <a:rPr lang="en-US" sz="1300" dirty="0">
                          <a:solidFill>
                            <a:schemeClr val="tx1"/>
                          </a:solidFill>
                          <a:effectLst/>
                          <a:latin typeface="Times New Roman" panose="02020603050405020304" pitchFamily="18" charset="0"/>
                          <a:cs typeface="Times New Roman" panose="02020603050405020304" pitchFamily="18" charset="0"/>
                        </a:rPr>
                        <a:t>string</a:t>
                      </a:r>
                      <a:endParaRPr lang="en-US" sz="13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18" marR="59218" marT="29609" marB="296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Bef>
                          <a:spcPts val="100"/>
                        </a:spcBef>
                        <a:spcAft>
                          <a:spcPts val="100"/>
                        </a:spcAft>
                      </a:pPr>
                      <a:r>
                        <a:rPr lang="en-US" sz="1300" dirty="0" err="1">
                          <a:solidFill>
                            <a:schemeClr val="tx1"/>
                          </a:solidFill>
                          <a:effectLst/>
                          <a:latin typeface="Times New Roman" panose="02020603050405020304" pitchFamily="18" charset="0"/>
                          <a:cs typeface="Times New Roman" panose="02020603050405020304" pitchFamily="18" charset="0"/>
                        </a:rPr>
                        <a:t>Kỹ</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thuật</a:t>
                      </a:r>
                      <a:r>
                        <a:rPr lang="en-US" sz="1300" dirty="0">
                          <a:solidFill>
                            <a:schemeClr val="tx1"/>
                          </a:solidFill>
                          <a:effectLst/>
                          <a:latin typeface="Times New Roman" panose="02020603050405020304" pitchFamily="18" charset="0"/>
                          <a:cs typeface="Times New Roman" panose="02020603050405020304" pitchFamily="18" charset="0"/>
                        </a:rPr>
                        <a:t> CBT </a:t>
                      </a:r>
                      <a:r>
                        <a:rPr lang="en-US" sz="1300" dirty="0" err="1">
                          <a:solidFill>
                            <a:schemeClr val="tx1"/>
                          </a:solidFill>
                          <a:effectLst/>
                          <a:latin typeface="Times New Roman" panose="02020603050405020304" pitchFamily="18" charset="0"/>
                          <a:cs typeface="Times New Roman" panose="02020603050405020304" pitchFamily="18" charset="0"/>
                        </a:rPr>
                        <a:t>mục</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tiêu</a:t>
                      </a:r>
                      <a:r>
                        <a:rPr lang="en-US" sz="1300" dirty="0">
                          <a:solidFill>
                            <a:schemeClr val="tx1"/>
                          </a:solidFill>
                          <a:effectLst/>
                          <a:latin typeface="Times New Roman" panose="02020603050405020304" pitchFamily="18" charset="0"/>
                          <a:cs typeface="Times New Roman" panose="02020603050405020304" pitchFamily="18" charset="0"/>
                        </a:rPr>
                        <a:t> (12 </a:t>
                      </a:r>
                      <a:r>
                        <a:rPr lang="en-US" sz="1300" dirty="0" err="1">
                          <a:solidFill>
                            <a:schemeClr val="tx1"/>
                          </a:solidFill>
                          <a:effectLst/>
                          <a:latin typeface="Times New Roman" panose="02020603050405020304" pitchFamily="18" charset="0"/>
                          <a:cs typeface="Times New Roman" panose="02020603050405020304" pitchFamily="18" charset="0"/>
                        </a:rPr>
                        <a:t>nhãn</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chuẩn</a:t>
                      </a:r>
                      <a:r>
                        <a:rPr lang="en-US" sz="1300" dirty="0">
                          <a:solidFill>
                            <a:schemeClr val="tx1"/>
                          </a:solidFill>
                          <a:effectLst/>
                          <a:latin typeface="Times New Roman" panose="02020603050405020304" pitchFamily="18" charset="0"/>
                          <a:cs typeface="Times New Roman" panose="02020603050405020304" pitchFamily="18" charset="0"/>
                        </a:rPr>
                        <a:t>) – </a:t>
                      </a:r>
                      <a:r>
                        <a:rPr lang="en-US" sz="1300" dirty="0" err="1">
                          <a:solidFill>
                            <a:schemeClr val="tx1"/>
                          </a:solidFill>
                          <a:effectLst/>
                          <a:latin typeface="Times New Roman" panose="02020603050405020304" pitchFamily="18" charset="0"/>
                          <a:cs typeface="Times New Roman" panose="02020603050405020304" pitchFamily="18" charset="0"/>
                        </a:rPr>
                        <a:t>nhãn</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lớp</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đầu</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ra</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của</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mô</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hình</a:t>
                      </a:r>
                      <a:endParaRPr lang="en-US" sz="13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18" marR="59218" marT="29609" marB="296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Bef>
                          <a:spcPts val="100"/>
                        </a:spcBef>
                        <a:spcAft>
                          <a:spcPts val="100"/>
                        </a:spcAft>
                      </a:pPr>
                      <a:r>
                        <a:rPr lang="en-US" sz="1300" dirty="0">
                          <a:solidFill>
                            <a:schemeClr val="tx1"/>
                          </a:solidFill>
                          <a:effectLst/>
                          <a:latin typeface="Times New Roman" panose="02020603050405020304" pitchFamily="18" charset="0"/>
                          <a:cs typeface="Times New Roman" panose="02020603050405020304" pitchFamily="18" charset="0"/>
                        </a:rPr>
                        <a:t>"Alternative Perspective"</a:t>
                      </a:r>
                      <a:endParaRPr lang="en-US" sz="13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18" marR="59218" marT="29609" marB="296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542965">
                <a:tc>
                  <a:txBody>
                    <a:bodyPr/>
                    <a:lstStyle/>
                    <a:p>
                      <a:pPr>
                        <a:lnSpc>
                          <a:spcPct val="115000"/>
                        </a:lnSpc>
                        <a:spcBef>
                          <a:spcPts val="100"/>
                        </a:spcBef>
                        <a:spcAft>
                          <a:spcPts val="100"/>
                        </a:spcAft>
                      </a:pPr>
                      <a:r>
                        <a:rPr lang="en-US" sz="1300" dirty="0" err="1">
                          <a:solidFill>
                            <a:schemeClr val="tx1"/>
                          </a:solidFill>
                          <a:effectLst/>
                          <a:latin typeface="Times New Roman" panose="02020603050405020304" pitchFamily="18" charset="0"/>
                          <a:cs typeface="Times New Roman" panose="02020603050405020304" pitchFamily="18" charset="0"/>
                        </a:rPr>
                        <a:t>cbt_plan</a:t>
                      </a:r>
                      <a:endParaRPr lang="en-US" sz="13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18" marR="59218" marT="29609" marB="296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Bef>
                          <a:spcPts val="100"/>
                        </a:spcBef>
                        <a:spcAft>
                          <a:spcPts val="100"/>
                        </a:spcAft>
                      </a:pPr>
                      <a:r>
                        <a:rPr lang="en-US" sz="1300" dirty="0">
                          <a:solidFill>
                            <a:schemeClr val="tx1"/>
                          </a:solidFill>
                          <a:effectLst/>
                          <a:latin typeface="Times New Roman" panose="02020603050405020304" pitchFamily="18" charset="0"/>
                          <a:cs typeface="Times New Roman" panose="02020603050405020304" pitchFamily="18" charset="0"/>
                        </a:rPr>
                        <a:t>string</a:t>
                      </a:r>
                      <a:endParaRPr lang="en-US" sz="13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18" marR="59218" marT="29609" marB="296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Bef>
                          <a:spcPts val="100"/>
                        </a:spcBef>
                        <a:spcAft>
                          <a:spcPts val="100"/>
                        </a:spcAft>
                      </a:pPr>
                      <a:r>
                        <a:rPr lang="en-US" sz="1300" dirty="0" err="1">
                          <a:solidFill>
                            <a:schemeClr val="tx1"/>
                          </a:solidFill>
                          <a:effectLst/>
                          <a:latin typeface="Times New Roman" panose="02020603050405020304" pitchFamily="18" charset="0"/>
                          <a:cs typeface="Times New Roman" panose="02020603050405020304" pitchFamily="18" charset="0"/>
                        </a:rPr>
                        <a:t>Kế</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hoạch</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tham</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vấn</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nhiều</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bước</a:t>
                      </a:r>
                      <a:r>
                        <a:rPr lang="en-US" sz="1300" dirty="0">
                          <a:solidFill>
                            <a:schemeClr val="tx1"/>
                          </a:solidFill>
                          <a:effectLst/>
                          <a:latin typeface="Times New Roman" panose="02020603050405020304" pitchFamily="18" charset="0"/>
                          <a:cs typeface="Times New Roman" panose="02020603050405020304" pitchFamily="18" charset="0"/>
                        </a:rPr>
                        <a:t> do </a:t>
                      </a:r>
                      <a:r>
                        <a:rPr lang="en-US" sz="1300" dirty="0" err="1">
                          <a:solidFill>
                            <a:schemeClr val="tx1"/>
                          </a:solidFill>
                          <a:effectLst/>
                          <a:latin typeface="Times New Roman" panose="02020603050405020304" pitchFamily="18" charset="0"/>
                          <a:cs typeface="Times New Roman" panose="02020603050405020304" pitchFamily="18" charset="0"/>
                        </a:rPr>
                        <a:t>nhà</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trị</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liệu</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lập</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trước</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phiên</a:t>
                      </a:r>
                      <a:endParaRPr lang="en-US" sz="13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18" marR="59218" marT="29609" marB="296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Bef>
                          <a:spcPts val="100"/>
                        </a:spcBef>
                        <a:spcAft>
                          <a:spcPts val="100"/>
                        </a:spcAft>
                      </a:pPr>
                      <a:r>
                        <a:rPr lang="en-US" sz="1300" dirty="0">
                          <a:solidFill>
                            <a:schemeClr val="tx1"/>
                          </a:solidFill>
                          <a:effectLst/>
                          <a:latin typeface="Times New Roman" panose="02020603050405020304" pitchFamily="18" charset="0"/>
                          <a:cs typeface="Times New Roman" panose="02020603050405020304" pitchFamily="18" charset="0"/>
                        </a:rPr>
                        <a:t>"Step 1: validate... Step 2: explore evidence..."</a:t>
                      </a:r>
                      <a:endParaRPr lang="en-US" sz="13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18" marR="59218" marT="29609" marB="296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542965">
                <a:tc>
                  <a:txBody>
                    <a:bodyPr/>
                    <a:lstStyle/>
                    <a:p>
                      <a:pPr>
                        <a:lnSpc>
                          <a:spcPct val="115000"/>
                        </a:lnSpc>
                        <a:spcBef>
                          <a:spcPts val="100"/>
                        </a:spcBef>
                        <a:spcAft>
                          <a:spcPts val="100"/>
                        </a:spcAft>
                      </a:pPr>
                      <a:r>
                        <a:rPr lang="en-US" sz="1300" dirty="0">
                          <a:solidFill>
                            <a:schemeClr val="tx1"/>
                          </a:solidFill>
                          <a:effectLst/>
                          <a:latin typeface="Times New Roman" panose="02020603050405020304" pitchFamily="18" charset="0"/>
                          <a:cs typeface="Times New Roman" panose="02020603050405020304" pitchFamily="18" charset="0"/>
                        </a:rPr>
                        <a:t>attitude</a:t>
                      </a:r>
                      <a:endParaRPr lang="en-US" sz="13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18" marR="59218" marT="29609" marB="296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Bef>
                          <a:spcPts val="100"/>
                        </a:spcBef>
                        <a:spcAft>
                          <a:spcPts val="100"/>
                        </a:spcAft>
                      </a:pPr>
                      <a:r>
                        <a:rPr lang="en-US" sz="1300">
                          <a:solidFill>
                            <a:schemeClr val="tx1"/>
                          </a:solidFill>
                          <a:effectLst/>
                          <a:latin typeface="Times New Roman" panose="02020603050405020304" pitchFamily="18" charset="0"/>
                          <a:cs typeface="Times New Roman" panose="02020603050405020304" pitchFamily="18" charset="0"/>
                        </a:rPr>
                        <a:t>string</a:t>
                      </a:r>
                      <a:endParaRPr lang="en-US" sz="13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18" marR="59218" marT="29609" marB="296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Bef>
                          <a:spcPts val="100"/>
                        </a:spcBef>
                        <a:spcAft>
                          <a:spcPts val="100"/>
                        </a:spcAft>
                      </a:pPr>
                      <a:r>
                        <a:rPr lang="en-US" sz="1300" dirty="0" err="1">
                          <a:solidFill>
                            <a:schemeClr val="tx1"/>
                          </a:solidFill>
                          <a:effectLst/>
                          <a:latin typeface="Times New Roman" panose="02020603050405020304" pitchFamily="18" charset="0"/>
                          <a:cs typeface="Times New Roman" panose="02020603050405020304" pitchFamily="18" charset="0"/>
                        </a:rPr>
                        <a:t>Thái</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độ</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thân</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chủ</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với</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phiên</a:t>
                      </a:r>
                      <a:r>
                        <a:rPr lang="en-US" sz="1300" dirty="0">
                          <a:solidFill>
                            <a:schemeClr val="tx1"/>
                          </a:solidFill>
                          <a:effectLst/>
                          <a:latin typeface="Times New Roman" panose="02020603050405020304" pitchFamily="18" charset="0"/>
                          <a:cs typeface="Times New Roman" panose="02020603050405020304" pitchFamily="18" charset="0"/>
                        </a:rPr>
                        <a:t>: positive / neutral / negative</a:t>
                      </a:r>
                      <a:endParaRPr lang="en-US" sz="13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18" marR="59218" marT="29609" marB="296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Bef>
                          <a:spcPts val="100"/>
                        </a:spcBef>
                        <a:spcAft>
                          <a:spcPts val="100"/>
                        </a:spcAft>
                      </a:pPr>
                      <a:r>
                        <a:rPr lang="en-US" sz="1300" dirty="0">
                          <a:solidFill>
                            <a:schemeClr val="tx1"/>
                          </a:solidFill>
                          <a:effectLst/>
                          <a:latin typeface="Times New Roman" panose="02020603050405020304" pitchFamily="18" charset="0"/>
                          <a:cs typeface="Times New Roman" panose="02020603050405020304" pitchFamily="18" charset="0"/>
                        </a:rPr>
                        <a:t>positive 11.226 / neutral 10.882 / negative 9.469</a:t>
                      </a:r>
                      <a:endParaRPr lang="en-US" sz="13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18" marR="59218" marT="29609" marB="296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542965">
                <a:tc>
                  <a:txBody>
                    <a:bodyPr/>
                    <a:lstStyle/>
                    <a:p>
                      <a:pPr>
                        <a:lnSpc>
                          <a:spcPct val="115000"/>
                        </a:lnSpc>
                        <a:spcBef>
                          <a:spcPts val="100"/>
                        </a:spcBef>
                        <a:spcAft>
                          <a:spcPts val="100"/>
                        </a:spcAft>
                      </a:pPr>
                      <a:r>
                        <a:rPr lang="en-US" sz="1300" dirty="0">
                          <a:solidFill>
                            <a:schemeClr val="tx1"/>
                          </a:solidFill>
                          <a:effectLst/>
                          <a:latin typeface="Times New Roman" panose="02020603050405020304" pitchFamily="18" charset="0"/>
                          <a:cs typeface="Times New Roman" panose="02020603050405020304" pitchFamily="18" charset="0"/>
                        </a:rPr>
                        <a:t>dialogue</a:t>
                      </a:r>
                      <a:endParaRPr lang="en-US" sz="13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18" marR="59218" marT="29609" marB="296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Bef>
                          <a:spcPts val="100"/>
                        </a:spcBef>
                        <a:spcAft>
                          <a:spcPts val="100"/>
                        </a:spcAft>
                      </a:pPr>
                      <a:r>
                        <a:rPr lang="en-US" sz="1300" dirty="0">
                          <a:solidFill>
                            <a:schemeClr val="tx1"/>
                          </a:solidFill>
                          <a:effectLst/>
                          <a:latin typeface="Times New Roman" panose="02020603050405020304" pitchFamily="18" charset="0"/>
                          <a:cs typeface="Times New Roman" panose="02020603050405020304" pitchFamily="18" charset="0"/>
                        </a:rPr>
                        <a:t>string</a:t>
                      </a:r>
                      <a:endParaRPr lang="en-US" sz="13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18" marR="59218" marT="29609" marB="296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Bef>
                          <a:spcPts val="100"/>
                        </a:spcBef>
                        <a:spcAft>
                          <a:spcPts val="100"/>
                        </a:spcAft>
                      </a:pPr>
                      <a:r>
                        <a:rPr lang="en-US" sz="1300" dirty="0" err="1">
                          <a:solidFill>
                            <a:schemeClr val="tx1"/>
                          </a:solidFill>
                          <a:effectLst/>
                          <a:latin typeface="Times New Roman" panose="02020603050405020304" pitchFamily="18" charset="0"/>
                          <a:cs typeface="Times New Roman" panose="02020603050405020304" pitchFamily="18" charset="0"/>
                        </a:rPr>
                        <a:t>Toàn</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bộ</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hội</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thoại</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đa</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lượt</a:t>
                      </a:r>
                      <a:r>
                        <a:rPr lang="en-US" sz="1300" dirty="0">
                          <a:solidFill>
                            <a:schemeClr val="tx1"/>
                          </a:solidFill>
                          <a:effectLst/>
                          <a:latin typeface="Times New Roman" panose="02020603050405020304" pitchFamily="18" charset="0"/>
                          <a:cs typeface="Times New Roman" panose="02020603050405020304" pitchFamily="18" charset="0"/>
                        </a:rPr>
                        <a:t> Counselor–Client (TB 16,6 </a:t>
                      </a:r>
                      <a:r>
                        <a:rPr lang="en-US" sz="1300" dirty="0" err="1">
                          <a:solidFill>
                            <a:schemeClr val="tx1"/>
                          </a:solidFill>
                          <a:effectLst/>
                          <a:latin typeface="Times New Roman" panose="02020603050405020304" pitchFamily="18" charset="0"/>
                          <a:cs typeface="Times New Roman" panose="02020603050405020304" pitchFamily="18" charset="0"/>
                        </a:rPr>
                        <a:t>lượt</a:t>
                      </a:r>
                      <a:r>
                        <a:rPr lang="en-US" sz="1300" dirty="0">
                          <a:solidFill>
                            <a:schemeClr val="tx1"/>
                          </a:solidFill>
                          <a:effectLst/>
                          <a:latin typeface="Times New Roman" panose="02020603050405020304" pitchFamily="18" charset="0"/>
                          <a:cs typeface="Times New Roman" panose="02020603050405020304" pitchFamily="18" charset="0"/>
                        </a:rPr>
                        <a:t>)</a:t>
                      </a:r>
                      <a:endParaRPr lang="en-US" sz="13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18" marR="59218" marT="29609" marB="296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Bef>
                          <a:spcPts val="100"/>
                        </a:spcBef>
                        <a:spcAft>
                          <a:spcPts val="100"/>
                        </a:spcAft>
                      </a:pPr>
                      <a:r>
                        <a:rPr lang="en-US" sz="1300" dirty="0">
                          <a:solidFill>
                            <a:schemeClr val="tx1"/>
                          </a:solidFill>
                          <a:effectLst/>
                          <a:latin typeface="Times New Roman" panose="02020603050405020304" pitchFamily="18" charset="0"/>
                          <a:cs typeface="Times New Roman" panose="02020603050405020304" pitchFamily="18" charset="0"/>
                        </a:rPr>
                        <a:t>"Counselor:... Client:..."</a:t>
                      </a:r>
                      <a:endParaRPr lang="en-US" sz="13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18" marR="59218" marT="29609" marB="296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772810">
                <a:tc>
                  <a:txBody>
                    <a:bodyPr/>
                    <a:lstStyle/>
                    <a:p>
                      <a:pPr>
                        <a:lnSpc>
                          <a:spcPct val="115000"/>
                        </a:lnSpc>
                        <a:spcBef>
                          <a:spcPts val="100"/>
                        </a:spcBef>
                        <a:spcAft>
                          <a:spcPts val="100"/>
                        </a:spcAft>
                      </a:pPr>
                      <a:r>
                        <a:rPr lang="en-US" sz="1300" dirty="0">
                          <a:solidFill>
                            <a:schemeClr val="tx1"/>
                          </a:solidFill>
                          <a:effectLst/>
                          <a:latin typeface="Times New Roman" panose="02020603050405020304" pitchFamily="18" charset="0"/>
                          <a:cs typeface="Times New Roman" panose="02020603050405020304" pitchFamily="18" charset="0"/>
                        </a:rPr>
                        <a:t>emotion (</a:t>
                      </a:r>
                      <a:r>
                        <a:rPr lang="en-US" sz="1300" dirty="0" err="1">
                          <a:solidFill>
                            <a:schemeClr val="tx1"/>
                          </a:solidFill>
                          <a:effectLst/>
                          <a:latin typeface="Times New Roman" panose="02020603050405020304" pitchFamily="18" charset="0"/>
                          <a:cs typeface="Times New Roman" panose="02020603050405020304" pitchFamily="18" charset="0"/>
                        </a:rPr>
                        <a:t>bổ</a:t>
                      </a:r>
                      <a:r>
                        <a:rPr lang="en-US" sz="1300" dirty="0">
                          <a:solidFill>
                            <a:schemeClr val="tx1"/>
                          </a:solidFill>
                          <a:effectLst/>
                          <a:latin typeface="Times New Roman" panose="02020603050405020304" pitchFamily="18" charset="0"/>
                          <a:cs typeface="Times New Roman" panose="02020603050405020304" pitchFamily="18" charset="0"/>
                        </a:rPr>
                        <a:t> sung)</a:t>
                      </a:r>
                      <a:endParaRPr lang="en-US" sz="13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18" marR="59218" marT="29609" marB="296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Bef>
                          <a:spcPts val="100"/>
                        </a:spcBef>
                        <a:spcAft>
                          <a:spcPts val="100"/>
                        </a:spcAft>
                      </a:pPr>
                      <a:r>
                        <a:rPr lang="en-US" sz="1300" dirty="0">
                          <a:solidFill>
                            <a:schemeClr val="tx1"/>
                          </a:solidFill>
                          <a:effectLst/>
                          <a:latin typeface="Times New Roman" panose="02020603050405020304" pitchFamily="18" charset="0"/>
                          <a:cs typeface="Times New Roman" panose="02020603050405020304" pitchFamily="18" charset="0"/>
                        </a:rPr>
                        <a:t>string</a:t>
                      </a:r>
                      <a:endParaRPr lang="en-US" sz="13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18" marR="59218" marT="29609" marB="296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Bef>
                          <a:spcPts val="100"/>
                        </a:spcBef>
                        <a:spcAft>
                          <a:spcPts val="100"/>
                        </a:spcAft>
                      </a:pPr>
                      <a:r>
                        <a:rPr lang="en-US" sz="1300" dirty="0" err="1">
                          <a:solidFill>
                            <a:schemeClr val="tx1"/>
                          </a:solidFill>
                          <a:effectLst/>
                          <a:latin typeface="Times New Roman" panose="02020603050405020304" pitchFamily="18" charset="0"/>
                          <a:cs typeface="Times New Roman" panose="02020603050405020304" pitchFamily="18" charset="0"/>
                        </a:rPr>
                        <a:t>Cảm</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xúc</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trội</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của</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thân</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chủ</a:t>
                      </a:r>
                      <a:r>
                        <a:rPr lang="en-US" sz="1300" dirty="0">
                          <a:solidFill>
                            <a:schemeClr val="tx1"/>
                          </a:solidFill>
                          <a:effectLst/>
                          <a:latin typeface="Times New Roman" panose="02020603050405020304" pitchFamily="18" charset="0"/>
                          <a:cs typeface="Times New Roman" panose="02020603050405020304" pitchFamily="18" charset="0"/>
                        </a:rPr>
                        <a:t> (6 </a:t>
                      </a:r>
                      <a:r>
                        <a:rPr lang="en-US" sz="1300" dirty="0" err="1">
                          <a:solidFill>
                            <a:schemeClr val="tx1"/>
                          </a:solidFill>
                          <a:effectLst/>
                          <a:latin typeface="Times New Roman" panose="02020603050405020304" pitchFamily="18" charset="0"/>
                          <a:cs typeface="Times New Roman" panose="02020603050405020304" pitchFamily="18" charset="0"/>
                        </a:rPr>
                        <a:t>nhãn</a:t>
                      </a:r>
                      <a:r>
                        <a:rPr lang="en-US" sz="1300" dirty="0">
                          <a:solidFill>
                            <a:schemeClr val="tx1"/>
                          </a:solidFill>
                          <a:effectLst/>
                          <a:latin typeface="Times New Roman" panose="02020603050405020304" pitchFamily="18" charset="0"/>
                          <a:cs typeface="Times New Roman" panose="02020603050405020304" pitchFamily="18" charset="0"/>
                        </a:rPr>
                        <a:t> Ekman </a:t>
                      </a:r>
                      <a:r>
                        <a:rPr lang="en-US" sz="1300" dirty="0" err="1">
                          <a:solidFill>
                            <a:schemeClr val="tx1"/>
                          </a:solidFill>
                          <a:effectLst/>
                          <a:latin typeface="Times New Roman" panose="02020603050405020304" pitchFamily="18" charset="0"/>
                          <a:cs typeface="Times New Roman" panose="02020603050405020304" pitchFamily="18" charset="0"/>
                        </a:rPr>
                        <a:t>mở</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rộng</a:t>
                      </a:r>
                      <a:r>
                        <a:rPr lang="en-US" sz="1300" dirty="0">
                          <a:solidFill>
                            <a:schemeClr val="tx1"/>
                          </a:solidFill>
                          <a:effectLst/>
                          <a:latin typeface="Times New Roman" panose="02020603050405020304" pitchFamily="18" charset="0"/>
                          <a:cs typeface="Times New Roman" panose="02020603050405020304" pitchFamily="18" charset="0"/>
                        </a:rPr>
                        <a:t>) – </a:t>
                      </a:r>
                      <a:r>
                        <a:rPr lang="en-US" sz="1300" dirty="0" err="1">
                          <a:solidFill>
                            <a:schemeClr val="tx1"/>
                          </a:solidFill>
                          <a:effectLst/>
                          <a:latin typeface="Times New Roman" panose="02020603050405020304" pitchFamily="18" charset="0"/>
                          <a:cs typeface="Times New Roman" panose="02020603050405020304" pitchFamily="18" charset="0"/>
                        </a:rPr>
                        <a:t>gắn</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nhãn</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bằng</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Groq</a:t>
                      </a:r>
                      <a:endParaRPr lang="en-US" sz="13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18" marR="59218" marT="29609" marB="296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Bef>
                          <a:spcPts val="100"/>
                        </a:spcBef>
                        <a:spcAft>
                          <a:spcPts val="100"/>
                        </a:spcAft>
                      </a:pPr>
                      <a:r>
                        <a:rPr lang="en-US" sz="1300" dirty="0">
                          <a:solidFill>
                            <a:schemeClr val="tx1"/>
                          </a:solidFill>
                          <a:effectLst/>
                          <a:latin typeface="Times New Roman" panose="02020603050405020304" pitchFamily="18" charset="0"/>
                          <a:cs typeface="Times New Roman" panose="02020603050405020304" pitchFamily="18" charset="0"/>
                        </a:rPr>
                        <a:t>sadness 13.348 / joy 9.770 / anger 6.369 / fear 1.637 ...</a:t>
                      </a:r>
                      <a:endParaRPr lang="en-US" sz="13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18" marR="59218" marT="29609" marB="296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772810">
                <a:tc>
                  <a:txBody>
                    <a:bodyPr/>
                    <a:lstStyle/>
                    <a:p>
                      <a:pPr>
                        <a:lnSpc>
                          <a:spcPct val="115000"/>
                        </a:lnSpc>
                        <a:spcBef>
                          <a:spcPts val="100"/>
                        </a:spcBef>
                        <a:spcAft>
                          <a:spcPts val="100"/>
                        </a:spcAft>
                      </a:pPr>
                      <a:r>
                        <a:rPr lang="en-US" sz="1300" dirty="0">
                          <a:solidFill>
                            <a:schemeClr val="tx1"/>
                          </a:solidFill>
                          <a:effectLst/>
                          <a:latin typeface="Times New Roman" panose="02020603050405020304" pitchFamily="18" charset="0"/>
                          <a:cs typeface="Times New Roman" panose="02020603050405020304" pitchFamily="18" charset="0"/>
                        </a:rPr>
                        <a:t>severity (</a:t>
                      </a:r>
                      <a:r>
                        <a:rPr lang="en-US" sz="1300" dirty="0" err="1">
                          <a:solidFill>
                            <a:schemeClr val="tx1"/>
                          </a:solidFill>
                          <a:effectLst/>
                          <a:latin typeface="Times New Roman" panose="02020603050405020304" pitchFamily="18" charset="0"/>
                          <a:cs typeface="Times New Roman" panose="02020603050405020304" pitchFamily="18" charset="0"/>
                        </a:rPr>
                        <a:t>bổ</a:t>
                      </a:r>
                      <a:r>
                        <a:rPr lang="en-US" sz="1300" dirty="0">
                          <a:solidFill>
                            <a:schemeClr val="tx1"/>
                          </a:solidFill>
                          <a:effectLst/>
                          <a:latin typeface="Times New Roman" panose="02020603050405020304" pitchFamily="18" charset="0"/>
                          <a:cs typeface="Times New Roman" panose="02020603050405020304" pitchFamily="18" charset="0"/>
                        </a:rPr>
                        <a:t> sung)</a:t>
                      </a:r>
                      <a:endParaRPr lang="en-US" sz="13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18" marR="59218" marT="29609" marB="296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Bef>
                          <a:spcPts val="100"/>
                        </a:spcBef>
                        <a:spcAft>
                          <a:spcPts val="100"/>
                        </a:spcAft>
                      </a:pPr>
                      <a:r>
                        <a:rPr lang="en-US" sz="1300" dirty="0">
                          <a:solidFill>
                            <a:schemeClr val="tx1"/>
                          </a:solidFill>
                          <a:effectLst/>
                          <a:latin typeface="Times New Roman" panose="02020603050405020304" pitchFamily="18" charset="0"/>
                          <a:cs typeface="Times New Roman" panose="02020603050405020304" pitchFamily="18" charset="0"/>
                        </a:rPr>
                        <a:t>string</a:t>
                      </a:r>
                      <a:endParaRPr lang="en-US" sz="13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18" marR="59218" marT="29609" marB="296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Bef>
                          <a:spcPts val="100"/>
                        </a:spcBef>
                        <a:spcAft>
                          <a:spcPts val="100"/>
                        </a:spcAft>
                      </a:pPr>
                      <a:r>
                        <a:rPr lang="en-US" sz="1300">
                          <a:solidFill>
                            <a:schemeClr val="tx1"/>
                          </a:solidFill>
                          <a:effectLst/>
                          <a:latin typeface="Times New Roman" panose="02020603050405020304" pitchFamily="18" charset="0"/>
                          <a:cs typeface="Times New Roman" panose="02020603050405020304" pitchFamily="18" charset="0"/>
                        </a:rPr>
                        <a:t>Mức độ nghiêm trọng lâm sàng – hỗ trợ phân tích phân nhóm</a:t>
                      </a:r>
                      <a:endParaRPr lang="en-US" sz="13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18" marR="59218" marT="29609" marB="296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Bef>
                          <a:spcPts val="100"/>
                        </a:spcBef>
                        <a:spcAft>
                          <a:spcPts val="100"/>
                        </a:spcAft>
                      </a:pPr>
                      <a:r>
                        <a:rPr lang="en-US" sz="1300" dirty="0">
                          <a:solidFill>
                            <a:schemeClr val="tx1"/>
                          </a:solidFill>
                          <a:effectLst/>
                          <a:latin typeface="Times New Roman" panose="02020603050405020304" pitchFamily="18" charset="0"/>
                          <a:cs typeface="Times New Roman" panose="02020603050405020304" pitchFamily="18" charset="0"/>
                        </a:rPr>
                        <a:t>Normal 27.389 / Depression 2.466 / Suicidal 1.083 / Anxiety 639</a:t>
                      </a:r>
                      <a:endParaRPr lang="en-US" sz="13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18" marR="59218" marT="29609" marB="296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Tree>
    <p:extLst>
      <p:ext uri="{BB962C8B-B14F-4D97-AF65-F5344CB8AC3E}">
        <p14:creationId xmlns:p14="http://schemas.microsoft.com/office/powerpoint/2010/main" val="402104402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94010" y="210242"/>
            <a:ext cx="3786996" cy="369332"/>
          </a:xfrm>
          <a:prstGeom prst="rect">
            <a:avLst/>
          </a:prstGeom>
          <a:noFill/>
        </p:spPr>
        <p:txBody>
          <a:bodyPr wrap="square" rtlCol="0">
            <a:spAutoFit/>
          </a:bodyPr>
          <a:lstStyle/>
          <a:p>
            <a:r>
              <a:rPr lang="en-US" b="1" dirty="0" err="1" smtClean="0">
                <a:latin typeface="Times New Roman" panose="02020603050405020304" pitchFamily="18" charset="0"/>
                <a:cs typeface="Times New Roman" panose="02020603050405020304" pitchFamily="18" charset="0"/>
              </a:rPr>
              <a:t>Xử</a:t>
            </a:r>
            <a:r>
              <a:rPr lang="en-US" b="1" dirty="0" smtClean="0">
                <a:latin typeface="Times New Roman" panose="02020603050405020304" pitchFamily="18" charset="0"/>
                <a:cs typeface="Times New Roman" panose="02020603050405020304" pitchFamily="18" charset="0"/>
              </a:rPr>
              <a:t> </a:t>
            </a:r>
            <a:r>
              <a:rPr lang="en-US" b="1" dirty="0" err="1" smtClean="0">
                <a:latin typeface="Times New Roman" panose="02020603050405020304" pitchFamily="18" charset="0"/>
                <a:cs typeface="Times New Roman" panose="02020603050405020304" pitchFamily="18" charset="0"/>
              </a:rPr>
              <a:t>lý</a:t>
            </a:r>
            <a:r>
              <a:rPr lang="en-US" b="1" dirty="0" smtClean="0">
                <a:latin typeface="Times New Roman" panose="02020603050405020304" pitchFamily="18" charset="0"/>
                <a:cs typeface="Times New Roman" panose="02020603050405020304" pitchFamily="18" charset="0"/>
              </a:rPr>
              <a:t> </a:t>
            </a:r>
            <a:r>
              <a:rPr lang="en-US" b="1" dirty="0" err="1" smtClean="0">
                <a:latin typeface="Times New Roman" panose="02020603050405020304" pitchFamily="18" charset="0"/>
                <a:cs typeface="Times New Roman" panose="02020603050405020304" pitchFamily="18" charset="0"/>
              </a:rPr>
              <a:t>bài</a:t>
            </a:r>
            <a:r>
              <a:rPr lang="en-US" b="1" dirty="0" smtClean="0">
                <a:latin typeface="Times New Roman" panose="02020603050405020304" pitchFamily="18" charset="0"/>
                <a:cs typeface="Times New Roman" panose="02020603050405020304" pitchFamily="18" charset="0"/>
              </a:rPr>
              <a:t> </a:t>
            </a:r>
            <a:r>
              <a:rPr lang="en-US" b="1" dirty="0" err="1" smtClean="0">
                <a:latin typeface="Times New Roman" panose="02020603050405020304" pitchFamily="18" charset="0"/>
                <a:cs typeface="Times New Roman" panose="02020603050405020304" pitchFamily="18" charset="0"/>
              </a:rPr>
              <a:t>toán</a:t>
            </a:r>
            <a:r>
              <a:rPr lang="en-US" b="1" dirty="0" smtClean="0">
                <a:latin typeface="Times New Roman" panose="02020603050405020304" pitchFamily="18" charset="0"/>
                <a:cs typeface="Times New Roman" panose="02020603050405020304" pitchFamily="18" charset="0"/>
              </a:rPr>
              <a:t> </a:t>
            </a:r>
            <a:endParaRPr lang="en-US" b="1" dirty="0">
              <a:latin typeface="Times New Roman" panose="02020603050405020304" pitchFamily="18" charset="0"/>
              <a:cs typeface="Times New Roman" panose="02020603050405020304" pitchFamily="18" charset="0"/>
            </a:endParaRPr>
          </a:p>
        </p:txBody>
      </p:sp>
      <p:sp>
        <p:nvSpPr>
          <p:cNvPr id="15" name="TextBox 14"/>
          <p:cNvSpPr txBox="1"/>
          <p:nvPr/>
        </p:nvSpPr>
        <p:spPr>
          <a:xfrm>
            <a:off x="494010" y="655608"/>
            <a:ext cx="7323827" cy="369332"/>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Tạo</a:t>
            </a:r>
            <a:r>
              <a:rPr lang="en-US" dirty="0" smtClean="0">
                <a:latin typeface="Times New Roman" panose="02020603050405020304" pitchFamily="18" charset="0"/>
                <a:cs typeface="Times New Roman" panose="02020603050405020304" pitchFamily="18" charset="0"/>
              </a:rPr>
              <a:t> Rationale </a:t>
            </a:r>
            <a:r>
              <a:rPr lang="en-US" dirty="0" err="1" smtClean="0">
                <a:latin typeface="Times New Roman" panose="02020603050405020304" pitchFamily="18" charset="0"/>
                <a:cs typeface="Times New Roman" panose="02020603050405020304" pitchFamily="18" charset="0"/>
              </a:rPr>
              <a:t>để</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giải</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thích</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nội</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bộ</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vì</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sao</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chọn</a:t>
            </a:r>
            <a:r>
              <a:rPr lang="en-US" dirty="0" smtClean="0">
                <a:latin typeface="Times New Roman" panose="02020603050405020304" pitchFamily="18" charset="0"/>
                <a:cs typeface="Times New Roman" panose="02020603050405020304" pitchFamily="18" charset="0"/>
              </a:rPr>
              <a:t> intervention </a:t>
            </a:r>
            <a:endParaRPr lang="en-US" dirty="0">
              <a:latin typeface="Times New Roman" panose="02020603050405020304" pitchFamily="18" charset="0"/>
              <a:cs typeface="Times New Roman" panose="02020603050405020304" pitchFamily="18" charset="0"/>
            </a:endParaRPr>
          </a:p>
        </p:txBody>
      </p:sp>
      <p:sp>
        <p:nvSpPr>
          <p:cNvPr id="16" name="Rectangle 15"/>
          <p:cNvSpPr/>
          <p:nvPr/>
        </p:nvSpPr>
        <p:spPr>
          <a:xfrm>
            <a:off x="494010" y="1231996"/>
            <a:ext cx="6096000" cy="1754326"/>
          </a:xfrm>
          <a:prstGeom prst="rect">
            <a:avLst/>
          </a:prstGeom>
        </p:spPr>
        <p:txBody>
          <a:bodyPr>
            <a:spAutoFit/>
          </a:bodyPr>
          <a:lstStyle/>
          <a:p>
            <a:r>
              <a:rPr lang="en-US" dirty="0" smtClean="0">
                <a:latin typeface="Times New Roman" panose="02020603050405020304" pitchFamily="18" charset="0"/>
                <a:cs typeface="Times New Roman" panose="02020603050405020304" pitchFamily="18" charset="0"/>
              </a:rPr>
              <a:t>RATIONALE_TEMPLATES = [    </a:t>
            </a:r>
            <a:r>
              <a:rPr lang="en-US" dirty="0" err="1" smtClean="0">
                <a:latin typeface="Times New Roman" panose="02020603050405020304" pitchFamily="18" charset="0"/>
                <a:cs typeface="Times New Roman" panose="02020603050405020304" pitchFamily="18" charset="0"/>
              </a:rPr>
              <a:t>f"Given</a:t>
            </a:r>
            <a:r>
              <a:rPr lang="en-US" dirty="0" smtClean="0">
                <a:latin typeface="Times New Roman" panose="02020603050405020304" pitchFamily="18" charset="0"/>
                <a:cs typeface="Times New Roman" panose="02020603050405020304" pitchFamily="18" charset="0"/>
              </a:rPr>
              <a:t> the client's {emotion} state ... {technique} directly targets ...",    </a:t>
            </a:r>
            <a:r>
              <a:rPr lang="en-US" dirty="0" err="1" smtClean="0">
                <a:latin typeface="Times New Roman" panose="02020603050405020304" pitchFamily="18" charset="0"/>
                <a:cs typeface="Times New Roman" panose="02020603050405020304" pitchFamily="18" charset="0"/>
              </a:rPr>
              <a:t>f"The</a:t>
            </a:r>
            <a:r>
              <a:rPr lang="en-US" dirty="0" smtClean="0">
                <a:latin typeface="Times New Roman" panose="02020603050405020304" pitchFamily="18" charset="0"/>
                <a:cs typeface="Times New Roman" panose="02020603050405020304" pitchFamily="18" charset="0"/>
              </a:rPr>
              <a:t> combination of {emotion} ... indicates {technique} ...",    </a:t>
            </a:r>
            <a:r>
              <a:rPr lang="en-US" dirty="0" err="1" smtClean="0">
                <a:latin typeface="Times New Roman" panose="02020603050405020304" pitchFamily="18" charset="0"/>
                <a:cs typeface="Times New Roman" panose="02020603050405020304" pitchFamily="18" charset="0"/>
              </a:rPr>
              <a:t>f"With</a:t>
            </a:r>
            <a:r>
              <a:rPr lang="en-US" dirty="0" smtClean="0">
                <a:latin typeface="Times New Roman" panose="02020603050405020304" pitchFamily="18" charset="0"/>
                <a:cs typeface="Times New Roman" panose="02020603050405020304" pitchFamily="18" charset="0"/>
              </a:rPr>
              <a:t> {distortions} driving ... {technique} provides ...",    f"{technique} is selected because it directly addresses ...",    </a:t>
            </a:r>
            <a:r>
              <a:rPr lang="en-US" dirty="0" err="1" smtClean="0">
                <a:latin typeface="Times New Roman" panose="02020603050405020304" pitchFamily="18" charset="0"/>
                <a:cs typeface="Times New Roman" panose="02020603050405020304" pitchFamily="18" charset="0"/>
              </a:rPr>
              <a:t>f"To</a:t>
            </a:r>
            <a:r>
              <a:rPr lang="en-US" dirty="0" smtClean="0">
                <a:latin typeface="Times New Roman" panose="02020603050405020304" pitchFamily="18" charset="0"/>
                <a:cs typeface="Times New Roman" panose="02020603050405020304" pitchFamily="18" charset="0"/>
              </a:rPr>
              <a:t> address the client's {emotion} ... {technique} offers ..."]</a:t>
            </a:r>
            <a:endParaRPr lang="en-US" dirty="0">
              <a:latin typeface="Times New Roman" panose="02020603050405020304" pitchFamily="18" charset="0"/>
              <a:cs typeface="Times New Roman" panose="02020603050405020304" pitchFamily="18" charset="0"/>
            </a:endParaRPr>
          </a:p>
        </p:txBody>
      </p:sp>
      <p:graphicFrame>
        <p:nvGraphicFramePr>
          <p:cNvPr id="19" name="Table 18"/>
          <p:cNvGraphicFramePr>
            <a:graphicFrameLocks noGrp="1"/>
          </p:cNvGraphicFramePr>
          <p:nvPr>
            <p:extLst>
              <p:ext uri="{D42A27DB-BD31-4B8C-83A1-F6EECF244321}">
                <p14:modId xmlns:p14="http://schemas.microsoft.com/office/powerpoint/2010/main" val="2377156683"/>
              </p:ext>
            </p:extLst>
          </p:nvPr>
        </p:nvGraphicFramePr>
        <p:xfrm>
          <a:off x="1859472" y="3083304"/>
          <a:ext cx="8128000" cy="2931160"/>
        </p:xfrm>
        <a:graphic>
          <a:graphicData uri="http://schemas.openxmlformats.org/drawingml/2006/table">
            <a:tbl>
              <a:tblPr firstRow="1" bandRow="1">
                <a:tableStyleId>{5C22544A-7EE6-4342-B048-85BDC9FD1C3A}</a:tableStyleId>
              </a:tblPr>
              <a:tblGrid>
                <a:gridCol w="4064000"/>
                <a:gridCol w="4064000"/>
              </a:tblGrid>
              <a:tr h="370840">
                <a:tc>
                  <a:txBody>
                    <a:bodyPr/>
                    <a:lstStyle/>
                    <a:p>
                      <a:pPr algn="ctr"/>
                      <a:r>
                        <a:rPr lang="en-US" dirty="0" err="1" smtClean="0">
                          <a:solidFill>
                            <a:schemeClr val="tx1"/>
                          </a:solidFill>
                          <a:latin typeface="Times New Roman" panose="02020603050405020304" pitchFamily="18" charset="0"/>
                          <a:cs typeface="Times New Roman" panose="02020603050405020304" pitchFamily="18" charset="0"/>
                        </a:rPr>
                        <a:t>Gốc</a:t>
                      </a:r>
                      <a:endParaRPr 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smtClean="0">
                          <a:solidFill>
                            <a:schemeClr val="tx1"/>
                          </a:solidFill>
                          <a:latin typeface="Times New Roman" panose="02020603050405020304" pitchFamily="18" charset="0"/>
                          <a:cs typeface="Times New Roman" panose="02020603050405020304" pitchFamily="18" charset="0"/>
                        </a:rPr>
                        <a:t>Ý</a:t>
                      </a:r>
                      <a:r>
                        <a:rPr lang="en-US" baseline="0" dirty="0" smtClean="0">
                          <a:solidFill>
                            <a:schemeClr val="tx1"/>
                          </a:solidFill>
                          <a:latin typeface="Times New Roman" panose="02020603050405020304" pitchFamily="18" charset="0"/>
                          <a:cs typeface="Times New Roman" panose="02020603050405020304" pitchFamily="18" charset="0"/>
                        </a:rPr>
                        <a:t> </a:t>
                      </a:r>
                      <a:r>
                        <a:rPr lang="en-US" baseline="0" dirty="0" err="1" smtClean="0">
                          <a:solidFill>
                            <a:schemeClr val="tx1"/>
                          </a:solidFill>
                          <a:latin typeface="Times New Roman" panose="02020603050405020304" pitchFamily="18" charset="0"/>
                          <a:cs typeface="Times New Roman" panose="02020603050405020304" pitchFamily="18" charset="0"/>
                        </a:rPr>
                        <a:t>nghĩa</a:t>
                      </a:r>
                      <a:endParaRPr 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dirty="0" smtClean="0">
                          <a:solidFill>
                            <a:schemeClr val="tx1"/>
                          </a:solidFill>
                          <a:latin typeface="Times New Roman" panose="02020603050405020304" pitchFamily="18" charset="0"/>
                          <a:cs typeface="Times New Roman" panose="02020603050405020304" pitchFamily="18" charset="0"/>
                        </a:rPr>
                        <a:t>Given the client's {emotion} state ... {technique} directly targets ...</a:t>
                      </a:r>
                      <a:endParaRPr 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err="1" smtClean="0">
                          <a:solidFill>
                            <a:schemeClr val="tx1"/>
                          </a:solidFill>
                          <a:latin typeface="Times New Roman" panose="02020603050405020304" pitchFamily="18" charset="0"/>
                          <a:cs typeface="Times New Roman" panose="02020603050405020304" pitchFamily="18" charset="0"/>
                        </a:rPr>
                        <a:t>Xét</a:t>
                      </a:r>
                      <a:r>
                        <a:rPr lang="en-US" dirty="0" smtClean="0">
                          <a:solidFill>
                            <a:schemeClr val="tx1"/>
                          </a:solidFill>
                          <a:latin typeface="Times New Roman" panose="02020603050405020304" pitchFamily="18" charset="0"/>
                          <a:cs typeface="Times New Roman" panose="02020603050405020304" pitchFamily="18" charset="0"/>
                        </a:rPr>
                        <a:t> </a:t>
                      </a:r>
                      <a:r>
                        <a:rPr lang="en-US" dirty="0" err="1" smtClean="0">
                          <a:solidFill>
                            <a:schemeClr val="tx1"/>
                          </a:solidFill>
                          <a:latin typeface="Times New Roman" panose="02020603050405020304" pitchFamily="18" charset="0"/>
                          <a:cs typeface="Times New Roman" panose="02020603050405020304" pitchFamily="18" charset="0"/>
                        </a:rPr>
                        <a:t>đến</a:t>
                      </a:r>
                      <a:r>
                        <a:rPr lang="en-US" dirty="0" smtClean="0">
                          <a:solidFill>
                            <a:schemeClr val="tx1"/>
                          </a:solidFill>
                          <a:latin typeface="Times New Roman" panose="02020603050405020304" pitchFamily="18" charset="0"/>
                          <a:cs typeface="Times New Roman" panose="02020603050405020304" pitchFamily="18" charset="0"/>
                        </a:rPr>
                        <a:t> </a:t>
                      </a:r>
                      <a:r>
                        <a:rPr lang="en-US" dirty="0" err="1" smtClean="0">
                          <a:solidFill>
                            <a:schemeClr val="tx1"/>
                          </a:solidFill>
                          <a:latin typeface="Times New Roman" panose="02020603050405020304" pitchFamily="18" charset="0"/>
                          <a:cs typeface="Times New Roman" panose="02020603050405020304" pitchFamily="18" charset="0"/>
                        </a:rPr>
                        <a:t>trạng</a:t>
                      </a:r>
                      <a:r>
                        <a:rPr lang="en-US" dirty="0" smtClean="0">
                          <a:solidFill>
                            <a:schemeClr val="tx1"/>
                          </a:solidFill>
                          <a:latin typeface="Times New Roman" panose="02020603050405020304" pitchFamily="18" charset="0"/>
                          <a:cs typeface="Times New Roman" panose="02020603050405020304" pitchFamily="18" charset="0"/>
                        </a:rPr>
                        <a:t> </a:t>
                      </a:r>
                      <a:r>
                        <a:rPr lang="en-US" dirty="0" err="1" smtClean="0">
                          <a:solidFill>
                            <a:schemeClr val="tx1"/>
                          </a:solidFill>
                          <a:latin typeface="Times New Roman" panose="02020603050405020304" pitchFamily="18" charset="0"/>
                          <a:cs typeface="Times New Roman" panose="02020603050405020304" pitchFamily="18" charset="0"/>
                        </a:rPr>
                        <a:t>thái</a:t>
                      </a:r>
                      <a:r>
                        <a:rPr lang="en-US" dirty="0" smtClean="0">
                          <a:solidFill>
                            <a:schemeClr val="tx1"/>
                          </a:solidFill>
                          <a:latin typeface="Times New Roman" panose="02020603050405020304" pitchFamily="18" charset="0"/>
                          <a:cs typeface="Times New Roman" panose="02020603050405020304" pitchFamily="18" charset="0"/>
                        </a:rPr>
                        <a:t> </a:t>
                      </a:r>
                      <a:r>
                        <a:rPr lang="en-US" dirty="0" err="1" smtClean="0">
                          <a:solidFill>
                            <a:schemeClr val="tx1"/>
                          </a:solidFill>
                          <a:latin typeface="Times New Roman" panose="02020603050405020304" pitchFamily="18" charset="0"/>
                          <a:cs typeface="Times New Roman" panose="02020603050405020304" pitchFamily="18" charset="0"/>
                        </a:rPr>
                        <a:t>cảm</a:t>
                      </a:r>
                      <a:r>
                        <a:rPr lang="en-US" dirty="0" smtClean="0">
                          <a:solidFill>
                            <a:schemeClr val="tx1"/>
                          </a:solidFill>
                          <a:latin typeface="Times New Roman" panose="02020603050405020304" pitchFamily="18" charset="0"/>
                          <a:cs typeface="Times New Roman" panose="02020603050405020304" pitchFamily="18" charset="0"/>
                        </a:rPr>
                        <a:t> </a:t>
                      </a:r>
                      <a:r>
                        <a:rPr lang="en-US" dirty="0" err="1" smtClean="0">
                          <a:solidFill>
                            <a:schemeClr val="tx1"/>
                          </a:solidFill>
                          <a:latin typeface="Times New Roman" panose="02020603050405020304" pitchFamily="18" charset="0"/>
                          <a:cs typeface="Times New Roman" panose="02020603050405020304" pitchFamily="18" charset="0"/>
                        </a:rPr>
                        <a:t>xúc</a:t>
                      </a:r>
                      <a:r>
                        <a:rPr lang="en-US" dirty="0" smtClean="0">
                          <a:solidFill>
                            <a:schemeClr val="tx1"/>
                          </a:solidFill>
                          <a:latin typeface="Times New Roman" panose="02020603050405020304" pitchFamily="18" charset="0"/>
                          <a:cs typeface="Times New Roman" panose="02020603050405020304" pitchFamily="18" charset="0"/>
                        </a:rPr>
                        <a:t> </a:t>
                      </a:r>
                      <a:r>
                        <a:rPr lang="en-US" dirty="0" err="1" smtClean="0">
                          <a:solidFill>
                            <a:schemeClr val="tx1"/>
                          </a:solidFill>
                          <a:latin typeface="Times New Roman" panose="02020603050405020304" pitchFamily="18" charset="0"/>
                          <a:cs typeface="Times New Roman" panose="02020603050405020304" pitchFamily="18" charset="0"/>
                        </a:rPr>
                        <a:t>của</a:t>
                      </a:r>
                      <a:r>
                        <a:rPr lang="en-US" dirty="0" smtClean="0">
                          <a:solidFill>
                            <a:schemeClr val="tx1"/>
                          </a:solidFill>
                          <a:latin typeface="Times New Roman" panose="02020603050405020304" pitchFamily="18" charset="0"/>
                          <a:cs typeface="Times New Roman" panose="02020603050405020304" pitchFamily="18" charset="0"/>
                        </a:rPr>
                        <a:t> client ... </a:t>
                      </a:r>
                      <a:r>
                        <a:rPr lang="en-US" dirty="0" err="1" smtClean="0">
                          <a:solidFill>
                            <a:schemeClr val="tx1"/>
                          </a:solidFill>
                          <a:latin typeface="Times New Roman" panose="02020603050405020304" pitchFamily="18" charset="0"/>
                          <a:cs typeface="Times New Roman" panose="02020603050405020304" pitchFamily="18" charset="0"/>
                        </a:rPr>
                        <a:t>kỹ</a:t>
                      </a:r>
                      <a:r>
                        <a:rPr lang="en-US" dirty="0" smtClean="0">
                          <a:solidFill>
                            <a:schemeClr val="tx1"/>
                          </a:solidFill>
                          <a:latin typeface="Times New Roman" panose="02020603050405020304" pitchFamily="18" charset="0"/>
                          <a:cs typeface="Times New Roman" panose="02020603050405020304" pitchFamily="18" charset="0"/>
                        </a:rPr>
                        <a:t> </a:t>
                      </a:r>
                      <a:r>
                        <a:rPr lang="en-US" dirty="0" err="1" smtClean="0">
                          <a:solidFill>
                            <a:schemeClr val="tx1"/>
                          </a:solidFill>
                          <a:latin typeface="Times New Roman" panose="02020603050405020304" pitchFamily="18" charset="0"/>
                          <a:cs typeface="Times New Roman" panose="02020603050405020304" pitchFamily="18" charset="0"/>
                        </a:rPr>
                        <a:t>thuật</a:t>
                      </a:r>
                      <a:r>
                        <a:rPr lang="en-US" dirty="0" smtClean="0">
                          <a:solidFill>
                            <a:schemeClr val="tx1"/>
                          </a:solidFill>
                          <a:latin typeface="Times New Roman" panose="02020603050405020304" pitchFamily="18" charset="0"/>
                          <a:cs typeface="Times New Roman" panose="02020603050405020304" pitchFamily="18" charset="0"/>
                        </a:rPr>
                        <a:t> </a:t>
                      </a:r>
                      <a:r>
                        <a:rPr lang="en-US" dirty="0" err="1" smtClean="0">
                          <a:solidFill>
                            <a:schemeClr val="tx1"/>
                          </a:solidFill>
                          <a:latin typeface="Times New Roman" panose="02020603050405020304" pitchFamily="18" charset="0"/>
                          <a:cs typeface="Times New Roman" panose="02020603050405020304" pitchFamily="18" charset="0"/>
                        </a:rPr>
                        <a:t>này</a:t>
                      </a:r>
                      <a:r>
                        <a:rPr lang="en-US" dirty="0" smtClean="0">
                          <a:solidFill>
                            <a:schemeClr val="tx1"/>
                          </a:solidFill>
                          <a:latin typeface="Times New Roman" panose="02020603050405020304" pitchFamily="18" charset="0"/>
                          <a:cs typeface="Times New Roman" panose="02020603050405020304" pitchFamily="18" charset="0"/>
                        </a:rPr>
                        <a:t> </a:t>
                      </a:r>
                      <a:r>
                        <a:rPr lang="en-US" dirty="0" err="1" smtClean="0">
                          <a:solidFill>
                            <a:schemeClr val="tx1"/>
                          </a:solidFill>
                          <a:latin typeface="Times New Roman" panose="02020603050405020304" pitchFamily="18" charset="0"/>
                          <a:cs typeface="Times New Roman" panose="02020603050405020304" pitchFamily="18" charset="0"/>
                        </a:rPr>
                        <a:t>trực</a:t>
                      </a:r>
                      <a:r>
                        <a:rPr lang="en-US" dirty="0" smtClean="0">
                          <a:solidFill>
                            <a:schemeClr val="tx1"/>
                          </a:solidFill>
                          <a:latin typeface="Times New Roman" panose="02020603050405020304" pitchFamily="18" charset="0"/>
                          <a:cs typeface="Times New Roman" panose="02020603050405020304" pitchFamily="18" charset="0"/>
                        </a:rPr>
                        <a:t> </a:t>
                      </a:r>
                      <a:r>
                        <a:rPr lang="en-US" dirty="0" err="1" smtClean="0">
                          <a:solidFill>
                            <a:schemeClr val="tx1"/>
                          </a:solidFill>
                          <a:latin typeface="Times New Roman" panose="02020603050405020304" pitchFamily="18" charset="0"/>
                          <a:cs typeface="Times New Roman" panose="02020603050405020304" pitchFamily="18" charset="0"/>
                        </a:rPr>
                        <a:t>tiếp</a:t>
                      </a:r>
                      <a:r>
                        <a:rPr lang="en-US" dirty="0" smtClean="0">
                          <a:solidFill>
                            <a:schemeClr val="tx1"/>
                          </a:solidFill>
                          <a:latin typeface="Times New Roman" panose="02020603050405020304" pitchFamily="18" charset="0"/>
                          <a:cs typeface="Times New Roman" panose="02020603050405020304" pitchFamily="18" charset="0"/>
                        </a:rPr>
                        <a:t> </a:t>
                      </a:r>
                      <a:r>
                        <a:rPr lang="en-US" dirty="0" err="1" smtClean="0">
                          <a:solidFill>
                            <a:schemeClr val="tx1"/>
                          </a:solidFill>
                          <a:latin typeface="Times New Roman" panose="02020603050405020304" pitchFamily="18" charset="0"/>
                          <a:cs typeface="Times New Roman" panose="02020603050405020304" pitchFamily="18" charset="0"/>
                        </a:rPr>
                        <a:t>nhắm</a:t>
                      </a:r>
                      <a:r>
                        <a:rPr lang="en-US" dirty="0" smtClean="0">
                          <a:solidFill>
                            <a:schemeClr val="tx1"/>
                          </a:solidFill>
                          <a:latin typeface="Times New Roman" panose="02020603050405020304" pitchFamily="18" charset="0"/>
                          <a:cs typeface="Times New Roman" panose="02020603050405020304" pitchFamily="18" charset="0"/>
                        </a:rPr>
                        <a:t> </a:t>
                      </a:r>
                      <a:r>
                        <a:rPr lang="en-US" dirty="0" err="1" smtClean="0">
                          <a:solidFill>
                            <a:schemeClr val="tx1"/>
                          </a:solidFill>
                          <a:latin typeface="Times New Roman" panose="02020603050405020304" pitchFamily="18" charset="0"/>
                          <a:cs typeface="Times New Roman" panose="02020603050405020304" pitchFamily="18" charset="0"/>
                        </a:rPr>
                        <a:t>vào</a:t>
                      </a:r>
                      <a:r>
                        <a:rPr lang="en-US" dirty="0" smtClean="0">
                          <a:solidFill>
                            <a:schemeClr val="tx1"/>
                          </a:solidFill>
                          <a:latin typeface="Times New Roman" panose="02020603050405020304" pitchFamily="18" charset="0"/>
                          <a:cs typeface="Times New Roman" panose="02020603050405020304" pitchFamily="18" charset="0"/>
                        </a:rPr>
                        <a:t> </a:t>
                      </a:r>
                      <a:endParaRPr 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dirty="0" smtClean="0">
                          <a:solidFill>
                            <a:schemeClr val="tx1"/>
                          </a:solidFill>
                          <a:latin typeface="Times New Roman" panose="02020603050405020304" pitchFamily="18" charset="0"/>
                          <a:cs typeface="Times New Roman" panose="02020603050405020304" pitchFamily="18" charset="0"/>
                        </a:rPr>
                        <a:t>The combination of {emotion} ... indicates {technique} ...</a:t>
                      </a:r>
                      <a:endParaRPr 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err="1" smtClean="0">
                          <a:solidFill>
                            <a:schemeClr val="tx1"/>
                          </a:solidFill>
                          <a:latin typeface="Times New Roman" panose="02020603050405020304" pitchFamily="18" charset="0"/>
                          <a:cs typeface="Times New Roman" panose="02020603050405020304" pitchFamily="18" charset="0"/>
                        </a:rPr>
                        <a:t>Sự</a:t>
                      </a:r>
                      <a:r>
                        <a:rPr lang="en-US" dirty="0" smtClean="0">
                          <a:solidFill>
                            <a:schemeClr val="tx1"/>
                          </a:solidFill>
                          <a:latin typeface="Times New Roman" panose="02020603050405020304" pitchFamily="18" charset="0"/>
                          <a:cs typeface="Times New Roman" panose="02020603050405020304" pitchFamily="18" charset="0"/>
                        </a:rPr>
                        <a:t> </a:t>
                      </a:r>
                      <a:r>
                        <a:rPr lang="en-US" dirty="0" err="1" smtClean="0">
                          <a:solidFill>
                            <a:schemeClr val="tx1"/>
                          </a:solidFill>
                          <a:latin typeface="Times New Roman" panose="02020603050405020304" pitchFamily="18" charset="0"/>
                          <a:cs typeface="Times New Roman" panose="02020603050405020304" pitchFamily="18" charset="0"/>
                        </a:rPr>
                        <a:t>kết</a:t>
                      </a:r>
                      <a:r>
                        <a:rPr lang="en-US" dirty="0" smtClean="0">
                          <a:solidFill>
                            <a:schemeClr val="tx1"/>
                          </a:solidFill>
                          <a:latin typeface="Times New Roman" panose="02020603050405020304" pitchFamily="18" charset="0"/>
                          <a:cs typeface="Times New Roman" panose="02020603050405020304" pitchFamily="18" charset="0"/>
                        </a:rPr>
                        <a:t> </a:t>
                      </a:r>
                      <a:r>
                        <a:rPr lang="en-US" dirty="0" err="1" smtClean="0">
                          <a:solidFill>
                            <a:schemeClr val="tx1"/>
                          </a:solidFill>
                          <a:latin typeface="Times New Roman" panose="02020603050405020304" pitchFamily="18" charset="0"/>
                          <a:cs typeface="Times New Roman" panose="02020603050405020304" pitchFamily="18" charset="0"/>
                        </a:rPr>
                        <a:t>hợp</a:t>
                      </a:r>
                      <a:r>
                        <a:rPr lang="en-US" dirty="0" smtClean="0">
                          <a:solidFill>
                            <a:schemeClr val="tx1"/>
                          </a:solidFill>
                          <a:latin typeface="Times New Roman" panose="02020603050405020304" pitchFamily="18" charset="0"/>
                          <a:cs typeface="Times New Roman" panose="02020603050405020304" pitchFamily="18" charset="0"/>
                        </a:rPr>
                        <a:t> </a:t>
                      </a:r>
                      <a:r>
                        <a:rPr lang="en-US" dirty="0" err="1" smtClean="0">
                          <a:solidFill>
                            <a:schemeClr val="tx1"/>
                          </a:solidFill>
                          <a:latin typeface="Times New Roman" panose="02020603050405020304" pitchFamily="18" charset="0"/>
                          <a:cs typeface="Times New Roman" panose="02020603050405020304" pitchFamily="18" charset="0"/>
                        </a:rPr>
                        <a:t>giữa</a:t>
                      </a:r>
                      <a:r>
                        <a:rPr lang="en-US" dirty="0" smtClean="0">
                          <a:solidFill>
                            <a:schemeClr val="tx1"/>
                          </a:solidFill>
                          <a:latin typeface="Times New Roman" panose="02020603050405020304" pitchFamily="18" charset="0"/>
                          <a:cs typeface="Times New Roman" panose="02020603050405020304" pitchFamily="18" charset="0"/>
                        </a:rPr>
                        <a:t> </a:t>
                      </a:r>
                      <a:r>
                        <a:rPr lang="en-US" dirty="0" err="1" smtClean="0">
                          <a:solidFill>
                            <a:schemeClr val="tx1"/>
                          </a:solidFill>
                          <a:latin typeface="Times New Roman" panose="02020603050405020304" pitchFamily="18" charset="0"/>
                          <a:cs typeface="Times New Roman" panose="02020603050405020304" pitchFamily="18" charset="0"/>
                        </a:rPr>
                        <a:t>các</a:t>
                      </a:r>
                      <a:r>
                        <a:rPr lang="en-US" dirty="0" smtClean="0">
                          <a:solidFill>
                            <a:schemeClr val="tx1"/>
                          </a:solidFill>
                          <a:latin typeface="Times New Roman" panose="02020603050405020304" pitchFamily="18" charset="0"/>
                          <a:cs typeface="Times New Roman" panose="02020603050405020304" pitchFamily="18" charset="0"/>
                        </a:rPr>
                        <a:t> </a:t>
                      </a:r>
                      <a:r>
                        <a:rPr lang="en-US" dirty="0" err="1" smtClean="0">
                          <a:solidFill>
                            <a:schemeClr val="tx1"/>
                          </a:solidFill>
                          <a:latin typeface="Times New Roman" panose="02020603050405020304" pitchFamily="18" charset="0"/>
                          <a:cs typeface="Times New Roman" panose="02020603050405020304" pitchFamily="18" charset="0"/>
                        </a:rPr>
                        <a:t>cảm</a:t>
                      </a:r>
                      <a:r>
                        <a:rPr lang="en-US" dirty="0" smtClean="0">
                          <a:solidFill>
                            <a:schemeClr val="tx1"/>
                          </a:solidFill>
                          <a:latin typeface="Times New Roman" panose="02020603050405020304" pitchFamily="18" charset="0"/>
                          <a:cs typeface="Times New Roman" panose="02020603050405020304" pitchFamily="18" charset="0"/>
                        </a:rPr>
                        <a:t> </a:t>
                      </a:r>
                      <a:r>
                        <a:rPr lang="en-US" dirty="0" err="1" smtClean="0">
                          <a:solidFill>
                            <a:schemeClr val="tx1"/>
                          </a:solidFill>
                          <a:latin typeface="Times New Roman" panose="02020603050405020304" pitchFamily="18" charset="0"/>
                          <a:cs typeface="Times New Roman" panose="02020603050405020304" pitchFamily="18" charset="0"/>
                        </a:rPr>
                        <a:t>xúc</a:t>
                      </a:r>
                      <a:r>
                        <a:rPr lang="en-US" dirty="0" smtClean="0">
                          <a:solidFill>
                            <a:schemeClr val="tx1"/>
                          </a:solidFill>
                          <a:latin typeface="Times New Roman" panose="02020603050405020304" pitchFamily="18" charset="0"/>
                          <a:cs typeface="Times New Roman" panose="02020603050405020304" pitchFamily="18" charset="0"/>
                        </a:rPr>
                        <a:t>/</a:t>
                      </a:r>
                      <a:r>
                        <a:rPr lang="en-US" dirty="0" err="1" smtClean="0">
                          <a:solidFill>
                            <a:schemeClr val="tx1"/>
                          </a:solidFill>
                          <a:latin typeface="Times New Roman" panose="02020603050405020304" pitchFamily="18" charset="0"/>
                          <a:cs typeface="Times New Roman" panose="02020603050405020304" pitchFamily="18" charset="0"/>
                        </a:rPr>
                        <a:t>dấu</a:t>
                      </a:r>
                      <a:r>
                        <a:rPr lang="en-US" dirty="0" smtClean="0">
                          <a:solidFill>
                            <a:schemeClr val="tx1"/>
                          </a:solidFill>
                          <a:latin typeface="Times New Roman" panose="02020603050405020304" pitchFamily="18" charset="0"/>
                          <a:cs typeface="Times New Roman" panose="02020603050405020304" pitchFamily="18" charset="0"/>
                        </a:rPr>
                        <a:t> </a:t>
                      </a:r>
                      <a:r>
                        <a:rPr lang="en-US" dirty="0" err="1" smtClean="0">
                          <a:solidFill>
                            <a:schemeClr val="tx1"/>
                          </a:solidFill>
                          <a:latin typeface="Times New Roman" panose="02020603050405020304" pitchFamily="18" charset="0"/>
                          <a:cs typeface="Times New Roman" panose="02020603050405020304" pitchFamily="18" charset="0"/>
                        </a:rPr>
                        <a:t>hiệu</a:t>
                      </a:r>
                      <a:r>
                        <a:rPr lang="en-US" dirty="0" smtClean="0">
                          <a:solidFill>
                            <a:schemeClr val="tx1"/>
                          </a:solidFill>
                          <a:latin typeface="Times New Roman" panose="02020603050405020304" pitchFamily="18" charset="0"/>
                          <a:cs typeface="Times New Roman" panose="02020603050405020304" pitchFamily="18" charset="0"/>
                        </a:rPr>
                        <a:t> </a:t>
                      </a:r>
                      <a:r>
                        <a:rPr lang="en-US" dirty="0" err="1" smtClean="0">
                          <a:solidFill>
                            <a:schemeClr val="tx1"/>
                          </a:solidFill>
                          <a:latin typeface="Times New Roman" panose="02020603050405020304" pitchFamily="18" charset="0"/>
                          <a:cs typeface="Times New Roman" panose="02020603050405020304" pitchFamily="18" charset="0"/>
                        </a:rPr>
                        <a:t>cho</a:t>
                      </a:r>
                      <a:r>
                        <a:rPr lang="en-US" dirty="0" smtClean="0">
                          <a:solidFill>
                            <a:schemeClr val="tx1"/>
                          </a:solidFill>
                          <a:latin typeface="Times New Roman" panose="02020603050405020304" pitchFamily="18" charset="0"/>
                          <a:cs typeface="Times New Roman" panose="02020603050405020304" pitchFamily="18" charset="0"/>
                        </a:rPr>
                        <a:t> </a:t>
                      </a:r>
                      <a:r>
                        <a:rPr lang="en-US" dirty="0" err="1" smtClean="0">
                          <a:solidFill>
                            <a:schemeClr val="tx1"/>
                          </a:solidFill>
                          <a:latin typeface="Times New Roman" panose="02020603050405020304" pitchFamily="18" charset="0"/>
                          <a:cs typeface="Times New Roman" panose="02020603050405020304" pitchFamily="18" charset="0"/>
                        </a:rPr>
                        <a:t>thấy</a:t>
                      </a:r>
                      <a:r>
                        <a:rPr lang="en-US" dirty="0" smtClean="0">
                          <a:solidFill>
                            <a:schemeClr val="tx1"/>
                          </a:solidFill>
                          <a:latin typeface="Times New Roman" panose="02020603050405020304" pitchFamily="18" charset="0"/>
                          <a:cs typeface="Times New Roman" panose="02020603050405020304" pitchFamily="18" charset="0"/>
                        </a:rPr>
                        <a:t> </a:t>
                      </a:r>
                      <a:r>
                        <a:rPr lang="en-US" dirty="0" err="1" smtClean="0">
                          <a:solidFill>
                            <a:schemeClr val="tx1"/>
                          </a:solidFill>
                          <a:latin typeface="Times New Roman" panose="02020603050405020304" pitchFamily="18" charset="0"/>
                          <a:cs typeface="Times New Roman" panose="02020603050405020304" pitchFamily="18" charset="0"/>
                        </a:rPr>
                        <a:t>nên</a:t>
                      </a:r>
                      <a:r>
                        <a:rPr lang="en-US" dirty="0" smtClean="0">
                          <a:solidFill>
                            <a:schemeClr val="tx1"/>
                          </a:solidFill>
                          <a:latin typeface="Times New Roman" panose="02020603050405020304" pitchFamily="18" charset="0"/>
                          <a:cs typeface="Times New Roman" panose="02020603050405020304" pitchFamily="18" charset="0"/>
                        </a:rPr>
                        <a:t> </a:t>
                      </a:r>
                      <a:r>
                        <a:rPr lang="en-US" dirty="0" err="1" smtClean="0">
                          <a:solidFill>
                            <a:schemeClr val="tx1"/>
                          </a:solidFill>
                          <a:latin typeface="Times New Roman" panose="02020603050405020304" pitchFamily="18" charset="0"/>
                          <a:cs typeface="Times New Roman" panose="02020603050405020304" pitchFamily="18" charset="0"/>
                        </a:rPr>
                        <a:t>dùng</a:t>
                      </a:r>
                      <a:r>
                        <a:rPr lang="en-US" dirty="0" smtClean="0">
                          <a:solidFill>
                            <a:schemeClr val="tx1"/>
                          </a:solidFill>
                          <a:latin typeface="Times New Roman" panose="02020603050405020304" pitchFamily="18" charset="0"/>
                          <a:cs typeface="Times New Roman" panose="02020603050405020304" pitchFamily="18" charset="0"/>
                        </a:rPr>
                        <a:t> </a:t>
                      </a:r>
                      <a:r>
                        <a:rPr lang="en-US" dirty="0" err="1" smtClean="0">
                          <a:solidFill>
                            <a:schemeClr val="tx1"/>
                          </a:solidFill>
                          <a:latin typeface="Times New Roman" panose="02020603050405020304" pitchFamily="18" charset="0"/>
                          <a:cs typeface="Times New Roman" panose="02020603050405020304" pitchFamily="18" charset="0"/>
                        </a:rPr>
                        <a:t>kỹ</a:t>
                      </a:r>
                      <a:r>
                        <a:rPr lang="en-US" dirty="0" smtClean="0">
                          <a:solidFill>
                            <a:schemeClr val="tx1"/>
                          </a:solidFill>
                          <a:latin typeface="Times New Roman" panose="02020603050405020304" pitchFamily="18" charset="0"/>
                          <a:cs typeface="Times New Roman" panose="02020603050405020304" pitchFamily="18" charset="0"/>
                        </a:rPr>
                        <a:t> </a:t>
                      </a:r>
                      <a:r>
                        <a:rPr lang="en-US" dirty="0" err="1" smtClean="0">
                          <a:solidFill>
                            <a:schemeClr val="tx1"/>
                          </a:solidFill>
                          <a:latin typeface="Times New Roman" panose="02020603050405020304" pitchFamily="18" charset="0"/>
                          <a:cs typeface="Times New Roman" panose="02020603050405020304" pitchFamily="18" charset="0"/>
                        </a:rPr>
                        <a:t>thuật</a:t>
                      </a:r>
                      <a:r>
                        <a:rPr lang="en-US" dirty="0" smtClean="0">
                          <a:solidFill>
                            <a:schemeClr val="tx1"/>
                          </a:solidFill>
                          <a:latin typeface="Times New Roman" panose="02020603050405020304" pitchFamily="18" charset="0"/>
                          <a:cs typeface="Times New Roman" panose="02020603050405020304" pitchFamily="18" charset="0"/>
                        </a:rPr>
                        <a:t> .</a:t>
                      </a:r>
                      <a:endParaRPr 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dirty="0" smtClean="0">
                          <a:solidFill>
                            <a:schemeClr val="tx1"/>
                          </a:solidFill>
                          <a:latin typeface="Times New Roman" panose="02020603050405020304" pitchFamily="18" charset="0"/>
                          <a:cs typeface="Times New Roman" panose="02020603050405020304" pitchFamily="18" charset="0"/>
                        </a:rPr>
                        <a:t>With {distortions} driving ... {technique} provides ...</a:t>
                      </a:r>
                      <a:endParaRPr 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err="1" smtClean="0">
                          <a:solidFill>
                            <a:schemeClr val="tx1"/>
                          </a:solidFill>
                          <a:latin typeface="Times New Roman" panose="02020603050405020304" pitchFamily="18" charset="0"/>
                          <a:cs typeface="Times New Roman" panose="02020603050405020304" pitchFamily="18" charset="0"/>
                        </a:rPr>
                        <a:t>Khi</a:t>
                      </a:r>
                      <a:r>
                        <a:rPr lang="en-US" dirty="0" smtClean="0">
                          <a:solidFill>
                            <a:schemeClr val="tx1"/>
                          </a:solidFill>
                          <a:latin typeface="Times New Roman" panose="02020603050405020304" pitchFamily="18" charset="0"/>
                          <a:cs typeface="Times New Roman" panose="02020603050405020304" pitchFamily="18" charset="0"/>
                        </a:rPr>
                        <a:t> </a:t>
                      </a:r>
                      <a:r>
                        <a:rPr lang="en-US" dirty="0" err="1" smtClean="0">
                          <a:solidFill>
                            <a:schemeClr val="tx1"/>
                          </a:solidFill>
                          <a:latin typeface="Times New Roman" panose="02020603050405020304" pitchFamily="18" charset="0"/>
                          <a:cs typeface="Times New Roman" panose="02020603050405020304" pitchFamily="18" charset="0"/>
                        </a:rPr>
                        <a:t>các</a:t>
                      </a:r>
                      <a:r>
                        <a:rPr lang="en-US" dirty="0" smtClean="0">
                          <a:solidFill>
                            <a:schemeClr val="tx1"/>
                          </a:solidFill>
                          <a:latin typeface="Times New Roman" panose="02020603050405020304" pitchFamily="18" charset="0"/>
                          <a:cs typeface="Times New Roman" panose="02020603050405020304" pitchFamily="18" charset="0"/>
                        </a:rPr>
                        <a:t> cognitive distortion </a:t>
                      </a:r>
                      <a:r>
                        <a:rPr lang="en-US" dirty="0" err="1" smtClean="0">
                          <a:solidFill>
                            <a:schemeClr val="tx1"/>
                          </a:solidFill>
                          <a:latin typeface="Times New Roman" panose="02020603050405020304" pitchFamily="18" charset="0"/>
                          <a:cs typeface="Times New Roman" panose="02020603050405020304" pitchFamily="18" charset="0"/>
                        </a:rPr>
                        <a:t>đang</a:t>
                      </a:r>
                      <a:r>
                        <a:rPr lang="en-US" dirty="0" smtClean="0">
                          <a:solidFill>
                            <a:schemeClr val="tx1"/>
                          </a:solidFill>
                          <a:latin typeface="Times New Roman" panose="02020603050405020304" pitchFamily="18" charset="0"/>
                          <a:cs typeface="Times New Roman" panose="02020603050405020304" pitchFamily="18" charset="0"/>
                        </a:rPr>
                        <a:t> chi </a:t>
                      </a:r>
                      <a:r>
                        <a:rPr lang="en-US" dirty="0" err="1" smtClean="0">
                          <a:solidFill>
                            <a:schemeClr val="tx1"/>
                          </a:solidFill>
                          <a:latin typeface="Times New Roman" panose="02020603050405020304" pitchFamily="18" charset="0"/>
                          <a:cs typeface="Times New Roman" panose="02020603050405020304" pitchFamily="18" charset="0"/>
                        </a:rPr>
                        <a:t>phối</a:t>
                      </a:r>
                      <a:r>
                        <a:rPr lang="en-US" dirty="0" smtClean="0">
                          <a:solidFill>
                            <a:schemeClr val="tx1"/>
                          </a:solidFill>
                          <a:latin typeface="Times New Roman" panose="02020603050405020304" pitchFamily="18" charset="0"/>
                          <a:cs typeface="Times New Roman" panose="02020603050405020304" pitchFamily="18" charset="0"/>
                        </a:rPr>
                        <a:t> ... </a:t>
                      </a:r>
                      <a:r>
                        <a:rPr lang="en-US" dirty="0" err="1" smtClean="0">
                          <a:solidFill>
                            <a:schemeClr val="tx1"/>
                          </a:solidFill>
                          <a:latin typeface="Times New Roman" panose="02020603050405020304" pitchFamily="18" charset="0"/>
                          <a:cs typeface="Times New Roman" panose="02020603050405020304" pitchFamily="18" charset="0"/>
                        </a:rPr>
                        <a:t>kỹ</a:t>
                      </a:r>
                      <a:r>
                        <a:rPr lang="en-US" dirty="0" smtClean="0">
                          <a:solidFill>
                            <a:schemeClr val="tx1"/>
                          </a:solidFill>
                          <a:latin typeface="Times New Roman" panose="02020603050405020304" pitchFamily="18" charset="0"/>
                          <a:cs typeface="Times New Roman" panose="02020603050405020304" pitchFamily="18" charset="0"/>
                        </a:rPr>
                        <a:t> </a:t>
                      </a:r>
                      <a:r>
                        <a:rPr lang="en-US" dirty="0" err="1" smtClean="0">
                          <a:solidFill>
                            <a:schemeClr val="tx1"/>
                          </a:solidFill>
                          <a:latin typeface="Times New Roman" panose="02020603050405020304" pitchFamily="18" charset="0"/>
                          <a:cs typeface="Times New Roman" panose="02020603050405020304" pitchFamily="18" charset="0"/>
                        </a:rPr>
                        <a:t>thuật</a:t>
                      </a:r>
                      <a:r>
                        <a:rPr lang="en-US" dirty="0" smtClean="0">
                          <a:solidFill>
                            <a:schemeClr val="tx1"/>
                          </a:solidFill>
                          <a:latin typeface="Times New Roman" panose="02020603050405020304" pitchFamily="18" charset="0"/>
                          <a:cs typeface="Times New Roman" panose="02020603050405020304" pitchFamily="18" charset="0"/>
                        </a:rPr>
                        <a:t> </a:t>
                      </a:r>
                      <a:r>
                        <a:rPr lang="en-US" dirty="0" err="1" smtClean="0">
                          <a:solidFill>
                            <a:schemeClr val="tx1"/>
                          </a:solidFill>
                          <a:latin typeface="Times New Roman" panose="02020603050405020304" pitchFamily="18" charset="0"/>
                          <a:cs typeface="Times New Roman" panose="02020603050405020304" pitchFamily="18" charset="0"/>
                        </a:rPr>
                        <a:t>này</a:t>
                      </a:r>
                      <a:r>
                        <a:rPr lang="en-US" dirty="0" smtClean="0">
                          <a:solidFill>
                            <a:schemeClr val="tx1"/>
                          </a:solidFill>
                          <a:latin typeface="Times New Roman" panose="02020603050405020304" pitchFamily="18" charset="0"/>
                          <a:cs typeface="Times New Roman" panose="02020603050405020304" pitchFamily="18" charset="0"/>
                        </a:rPr>
                        <a:t> </a:t>
                      </a:r>
                      <a:r>
                        <a:rPr lang="en-US" dirty="0" err="1" smtClean="0">
                          <a:solidFill>
                            <a:schemeClr val="tx1"/>
                          </a:solidFill>
                          <a:latin typeface="Times New Roman" panose="02020603050405020304" pitchFamily="18" charset="0"/>
                          <a:cs typeface="Times New Roman" panose="02020603050405020304" pitchFamily="18" charset="0"/>
                        </a:rPr>
                        <a:t>giúp</a:t>
                      </a:r>
                      <a:r>
                        <a:rPr lang="en-US" dirty="0" smtClean="0">
                          <a:solidFill>
                            <a:schemeClr val="tx1"/>
                          </a:solidFill>
                          <a:latin typeface="Times New Roman" panose="02020603050405020304" pitchFamily="18" charset="0"/>
                          <a:cs typeface="Times New Roman" panose="02020603050405020304" pitchFamily="18" charset="0"/>
                        </a:rPr>
                        <a:t> ..</a:t>
                      </a:r>
                      <a:endParaRPr 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dirty="0" smtClean="0">
                          <a:solidFill>
                            <a:schemeClr val="tx1"/>
                          </a:solidFill>
                          <a:latin typeface="Times New Roman" panose="02020603050405020304" pitchFamily="18" charset="0"/>
                          <a:cs typeface="Times New Roman" panose="02020603050405020304" pitchFamily="18" charset="0"/>
                        </a:rPr>
                        <a:t>{technique} is selected because it directly addresses ..</a:t>
                      </a:r>
                      <a:endParaRPr 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vi-VN" dirty="0" smtClean="0">
                          <a:solidFill>
                            <a:schemeClr val="tx1"/>
                          </a:solidFill>
                          <a:latin typeface="Times New Roman" panose="02020603050405020304" pitchFamily="18" charset="0"/>
                          <a:cs typeface="Times New Roman" panose="02020603050405020304" pitchFamily="18" charset="0"/>
                        </a:rPr>
                        <a:t>Kỹ thuật này được chọn vì nó trực tiếp giải quyết .</a:t>
                      </a:r>
                      <a:endParaRPr 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Tree>
    <p:extLst>
      <p:ext uri="{BB962C8B-B14F-4D97-AF65-F5344CB8AC3E}">
        <p14:creationId xmlns:p14="http://schemas.microsoft.com/office/powerpoint/2010/main" val="289269372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173192" y="1148917"/>
            <a:ext cx="2881223" cy="369332"/>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Phần</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diaglouge</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có</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dạng</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là</a:t>
            </a:r>
            <a:r>
              <a:rPr lang="en-US" dirty="0" smtClean="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
        <p:nvSpPr>
          <p:cNvPr id="5" name="Rectangle 1"/>
          <p:cNvSpPr>
            <a:spLocks noChangeArrowheads="1"/>
          </p:cNvSpPr>
          <p:nvPr/>
        </p:nvSpPr>
        <p:spPr bwMode="auto">
          <a:xfrm>
            <a:off x="1570007" y="1518249"/>
            <a:ext cx="1479892"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Counselor </a:t>
            </a:r>
          </a:p>
          <a:p>
            <a:pPr marL="285750" indent="-285750" eaLnBrk="0" fontAlgn="base" hangingPunct="0">
              <a:spcBef>
                <a:spcPct val="0"/>
              </a:spcBef>
              <a:spcAft>
                <a:spcPct val="0"/>
              </a:spcAft>
              <a:buFont typeface="Arial" panose="020B0604020202020204" pitchFamily="34" charset="0"/>
              <a:buChar char="•"/>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Clie</a:t>
            </a:r>
            <a:r>
              <a:rPr lang="en-US" dirty="0" smtClean="0">
                <a:latin typeface="Times New Roman" panose="02020603050405020304" pitchFamily="18" charset="0"/>
                <a:cs typeface="Times New Roman" panose="02020603050405020304" pitchFamily="18" charset="0"/>
              </a:rPr>
              <a:t>nt</a:t>
            </a:r>
          </a:p>
          <a:p>
            <a:pPr marL="285750" indent="-285750" eaLnBrk="0" fontAlgn="base" hangingPunct="0">
              <a:spcBef>
                <a:spcPct val="0"/>
              </a:spcBef>
              <a:spcAft>
                <a:spcPct val="0"/>
              </a:spcAft>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n</a:t>
            </a:r>
            <a:r>
              <a:rPr lang="en-US" dirty="0" err="1" smtClean="0">
                <a:latin typeface="Times New Roman" panose="02020603050405020304" pitchFamily="18" charset="0"/>
                <a:cs typeface="Times New Roman" panose="02020603050405020304" pitchFamily="18" charset="0"/>
              </a:rPr>
              <a:t>hiều</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turn </a:t>
            </a:r>
          </a:p>
          <a:p>
            <a:pPr marL="0" marR="0" lvl="0" indent="0" algn="l" defTabSz="914400" rtl="0" eaLnBrk="0" fontAlgn="base" latinLnBrk="0" hangingPunct="0">
              <a:lnSpc>
                <a:spcPct val="100000"/>
              </a:lnSpc>
              <a:spcBef>
                <a:spcPct val="0"/>
              </a:spcBef>
              <a:spcAft>
                <a:spcPct val="0"/>
              </a:spcAft>
              <a:buClrTx/>
              <a:buSzTx/>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p>
        </p:txBody>
      </p:sp>
      <p:cxnSp>
        <p:nvCxnSpPr>
          <p:cNvPr id="6" name="Straight Arrow Connector 5"/>
          <p:cNvCxnSpPr/>
          <p:nvPr/>
        </p:nvCxnSpPr>
        <p:spPr>
          <a:xfrm>
            <a:off x="4727275" y="1820175"/>
            <a:ext cx="1587261" cy="862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6101186" y="1148917"/>
            <a:ext cx="3892150" cy="369332"/>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Phần</a:t>
            </a:r>
            <a:r>
              <a:rPr lang="en-US" dirty="0" smtClean="0">
                <a:latin typeface="Times New Roman" panose="02020603050405020304" pitchFamily="18" charset="0"/>
                <a:cs typeface="Times New Roman" panose="02020603050405020304" pitchFamily="18" charset="0"/>
              </a:rPr>
              <a:t> response </a:t>
            </a:r>
            <a:r>
              <a:rPr lang="en-US" dirty="0" err="1" smtClean="0">
                <a:latin typeface="Times New Roman" panose="02020603050405020304" pitchFamily="18" charset="0"/>
                <a:cs typeface="Times New Roman" panose="02020603050405020304" pitchFamily="18" charset="0"/>
              </a:rPr>
              <a:t>trainning</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có</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dạng</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là</a:t>
            </a:r>
            <a:r>
              <a:rPr lang="en-US" dirty="0" smtClean="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
        <p:nvSpPr>
          <p:cNvPr id="8" name="Rectangle 1"/>
          <p:cNvSpPr>
            <a:spLocks noChangeArrowheads="1"/>
          </p:cNvSpPr>
          <p:nvPr/>
        </p:nvSpPr>
        <p:spPr bwMode="auto">
          <a:xfrm>
            <a:off x="6839110" y="1518249"/>
            <a:ext cx="1208151"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dirty="0" smtClean="0">
                <a:latin typeface="Times New Roman" panose="02020603050405020304" pitchFamily="18" charset="0"/>
                <a:cs typeface="Times New Roman" panose="02020603050405020304" pitchFamily="18" charset="0"/>
              </a:rPr>
              <a:t>Technique:</a:t>
            </a:r>
            <a:br>
              <a:rPr lang="en-US" dirty="0" smtClean="0">
                <a:latin typeface="Times New Roman" panose="02020603050405020304" pitchFamily="18" charset="0"/>
                <a:cs typeface="Times New Roman" panose="02020603050405020304" pitchFamily="18" charset="0"/>
              </a:rPr>
            </a:br>
            <a:r>
              <a:rPr lang="en-US" dirty="0" smtClean="0">
                <a:latin typeface="Times New Roman" panose="02020603050405020304" pitchFamily="18" charset="0"/>
                <a:cs typeface="Times New Roman" panose="02020603050405020304" pitchFamily="18" charset="0"/>
              </a:rPr>
              <a:t>Rationale:</a:t>
            </a:r>
            <a:br>
              <a:rPr lang="en-US" dirty="0" smtClean="0">
                <a:latin typeface="Times New Roman" panose="02020603050405020304" pitchFamily="18" charset="0"/>
                <a:cs typeface="Times New Roman" panose="02020603050405020304" pitchFamily="18" charset="0"/>
              </a:rPr>
            </a:br>
            <a:r>
              <a:rPr lang="en-US" dirty="0" smtClean="0">
                <a:latin typeface="Times New Roman" panose="02020603050405020304" pitchFamily="18" charset="0"/>
                <a:cs typeface="Times New Roman" panose="02020603050405020304" pitchFamily="18" charset="0"/>
              </a:rPr>
              <a:t>Plan:</a:t>
            </a:r>
            <a:br>
              <a:rPr lang="en-US" dirty="0" smtClean="0">
                <a:latin typeface="Times New Roman" panose="02020603050405020304" pitchFamily="18" charset="0"/>
                <a:cs typeface="Times New Roman" panose="02020603050405020304" pitchFamily="18" charset="0"/>
              </a:rPr>
            </a:br>
            <a:r>
              <a:rPr lang="en-US" dirty="0" smtClean="0">
                <a:latin typeface="Times New Roman" panose="02020603050405020304" pitchFamily="18" charset="0"/>
                <a:cs typeface="Times New Roman" panose="02020603050405020304" pitchFamily="18" charset="0"/>
              </a:rPr>
              <a:t>Response:</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p>
        </p:txBody>
      </p:sp>
      <p:sp>
        <p:nvSpPr>
          <p:cNvPr id="9" name="TextBox 8"/>
          <p:cNvSpPr txBox="1"/>
          <p:nvPr/>
        </p:nvSpPr>
        <p:spPr>
          <a:xfrm>
            <a:off x="1457864" y="2967487"/>
            <a:ext cx="5080959" cy="646331"/>
          </a:xfrm>
          <a:prstGeom prst="rect">
            <a:avLst/>
          </a:prstGeom>
          <a:noFill/>
        </p:spPr>
        <p:txBody>
          <a:bodyPr wrap="square" rtlCol="0">
            <a:spAutoFit/>
          </a:bodyPr>
          <a:lstStyle/>
          <a:p>
            <a:pPr marL="285750" indent="-285750">
              <a:buFontTx/>
              <a:buChar char="-"/>
            </a:pPr>
            <a:r>
              <a:rPr lang="en-US" dirty="0" err="1" smtClean="0">
                <a:latin typeface="Times New Roman" panose="02020603050405020304" pitchFamily="18" charset="0"/>
                <a:cs typeface="Times New Roman" panose="02020603050405020304" pitchFamily="18" charset="0"/>
              </a:rPr>
              <a:t>Mục</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đích</a:t>
            </a:r>
            <a:r>
              <a:rPr lang="en-US" dirty="0" smtClean="0">
                <a:latin typeface="Times New Roman" panose="02020603050405020304" pitchFamily="18" charset="0"/>
                <a:cs typeface="Times New Roman" panose="02020603050405020304" pitchFamily="18" charset="0"/>
              </a:rPr>
              <a:t>:</a:t>
            </a:r>
          </a:p>
          <a:p>
            <a:pPr marL="285750" indent="-285750">
              <a:buFontTx/>
              <a:buChar char="-"/>
            </a:pPr>
            <a:endParaRPr lang="en-US" dirty="0">
              <a:latin typeface="Times New Roman" panose="02020603050405020304" pitchFamily="18" charset="0"/>
              <a:cs typeface="Times New Roman" panose="02020603050405020304" pitchFamily="18" charset="0"/>
            </a:endParaRPr>
          </a:p>
        </p:txBody>
      </p:sp>
      <p:sp>
        <p:nvSpPr>
          <p:cNvPr id="10" name="Rectangle 2"/>
          <p:cNvSpPr>
            <a:spLocks noChangeArrowheads="1"/>
          </p:cNvSpPr>
          <p:nvPr/>
        </p:nvSpPr>
        <p:spPr bwMode="auto">
          <a:xfrm>
            <a:off x="1570007" y="3108370"/>
            <a:ext cx="2457724"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supervised fine-tuning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controllable generation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evaluation </a:t>
            </a:r>
            <a:r>
              <a:rPr kumimoji="0" lang="en-US" sz="18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dễ</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sz="18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hơn</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safety checking </a:t>
            </a:r>
            <a:r>
              <a:rPr kumimoji="0" lang="en-US" sz="18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dễ</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sz="18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hơn</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71728496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LLM Là Gì? Tìm Hiểu Chi Tiết Về Mô Hình Ngôn Ngữ Lớ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96711" y="1160167"/>
            <a:ext cx="5885113" cy="364288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655101" y="5481681"/>
            <a:ext cx="10849154" cy="646331"/>
          </a:xfrm>
          <a:prstGeom prst="rect">
            <a:avLst/>
          </a:prstGeom>
        </p:spPr>
        <p:txBody>
          <a:bodyPr wrap="square">
            <a:spAutoFit/>
          </a:bodyPr>
          <a:lstStyle/>
          <a:p>
            <a:r>
              <a:rPr lang="vi-VN" b="1" i="0" dirty="0" smtClean="0">
                <a:solidFill>
                  <a:srgbClr val="000000"/>
                </a:solidFill>
                <a:effectLst/>
                <a:latin typeface="+mj-lt"/>
              </a:rPr>
              <a:t>LLM (Large Language Model – mô hình ngôn ngữ lớn)</a:t>
            </a:r>
            <a:r>
              <a:rPr lang="vi-VN" b="0" i="0" dirty="0" smtClean="0">
                <a:solidFill>
                  <a:srgbClr val="000000"/>
                </a:solidFill>
                <a:effectLst/>
                <a:latin typeface="+mj-lt"/>
              </a:rPr>
              <a:t> là một loại trí tuệ nhân tạo (AI) </a:t>
            </a:r>
            <a:r>
              <a:rPr lang="vi-VN" b="1" i="0" dirty="0" smtClean="0">
                <a:solidFill>
                  <a:srgbClr val="000000"/>
                </a:solidFill>
                <a:effectLst/>
                <a:latin typeface="+mj-lt"/>
              </a:rPr>
              <a:t>được huấn luyện để hiểu và sinh ra ngôn ngữ tự nhiên giống con người</a:t>
            </a:r>
            <a:endParaRPr lang="en-US" dirty="0">
              <a:latin typeface="+mj-lt"/>
            </a:endParaRPr>
          </a:p>
        </p:txBody>
      </p:sp>
    </p:spTree>
    <p:extLst>
      <p:ext uri="{BB962C8B-B14F-4D97-AF65-F5344CB8AC3E}">
        <p14:creationId xmlns:p14="http://schemas.microsoft.com/office/powerpoint/2010/main" val="102628414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6" name="Picture 8" descr="LoRA fine-tuning - MartinLwx's Blo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730188"/>
            <a:ext cx="5577321" cy="326997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973307" y="645459"/>
            <a:ext cx="3630706" cy="369332"/>
          </a:xfrm>
          <a:prstGeom prst="rect">
            <a:avLst/>
          </a:prstGeom>
          <a:noFill/>
        </p:spPr>
        <p:txBody>
          <a:bodyPr wrap="square" rtlCol="0">
            <a:spAutoFit/>
          </a:bodyPr>
          <a:lstStyle/>
          <a:p>
            <a:r>
              <a:rPr lang="en-US" dirty="0" err="1" smtClean="0">
                <a:latin typeface="Times New Roman" panose="02020603050405020304" pitchFamily="18" charset="0"/>
                <a:cs typeface="Times New Roman" panose="02020603050405020304" pitchFamily="18" charset="0"/>
              </a:rPr>
              <a:t>LoRa</a:t>
            </a:r>
            <a:r>
              <a:rPr lang="en-US" dirty="0" smtClean="0">
                <a:latin typeface="Times New Roman" panose="02020603050405020304" pitchFamily="18" charset="0"/>
                <a:cs typeface="Times New Roman" panose="02020603050405020304" pitchFamily="18" charset="0"/>
              </a:rPr>
              <a:t> Rank</a:t>
            </a:r>
            <a:endParaRPr lang="en-US" dirty="0">
              <a:latin typeface="Times New Roman" panose="02020603050405020304" pitchFamily="18" charset="0"/>
              <a:cs typeface="Times New Roman" panose="02020603050405020304" pitchFamily="18" charset="0"/>
            </a:endParaRPr>
          </a:p>
        </p:txBody>
      </p:sp>
      <p:graphicFrame>
        <p:nvGraphicFramePr>
          <p:cNvPr id="8" name="Table 7"/>
          <p:cNvGraphicFramePr>
            <a:graphicFrameLocks noGrp="1"/>
          </p:cNvGraphicFramePr>
          <p:nvPr>
            <p:extLst>
              <p:ext uri="{D42A27DB-BD31-4B8C-83A1-F6EECF244321}">
                <p14:modId xmlns:p14="http://schemas.microsoft.com/office/powerpoint/2010/main" val="518588505"/>
              </p:ext>
            </p:extLst>
          </p:nvPr>
        </p:nvGraphicFramePr>
        <p:xfrm>
          <a:off x="5707642" y="240018"/>
          <a:ext cx="4605658" cy="6025598"/>
        </p:xfrm>
        <a:graphic>
          <a:graphicData uri="http://schemas.openxmlformats.org/drawingml/2006/table">
            <a:tbl>
              <a:tblPr firstRow="1" firstCol="1" bandRow="1">
                <a:tableStyleId>{5C22544A-7EE6-4342-B048-85BDC9FD1C3A}</a:tableStyleId>
              </a:tblPr>
              <a:tblGrid>
                <a:gridCol w="1754536"/>
                <a:gridCol w="2851122"/>
              </a:tblGrid>
              <a:tr h="294718">
                <a:tc>
                  <a:txBody>
                    <a:bodyPr/>
                    <a:lstStyle/>
                    <a:p>
                      <a:pPr algn="ctr">
                        <a:lnSpc>
                          <a:spcPct val="115000"/>
                        </a:lnSpc>
                        <a:spcAft>
                          <a:spcPts val="1000"/>
                        </a:spcAft>
                      </a:pPr>
                      <a:r>
                        <a:rPr lang="en-US" sz="1300" dirty="0" err="1">
                          <a:solidFill>
                            <a:schemeClr val="tx1"/>
                          </a:solidFill>
                          <a:effectLst/>
                          <a:latin typeface="Times New Roman" panose="02020603050405020304" pitchFamily="18" charset="0"/>
                          <a:cs typeface="Times New Roman" panose="02020603050405020304" pitchFamily="18" charset="0"/>
                        </a:rPr>
                        <a:t>Siêu</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tham</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số</a:t>
                      </a:r>
                      <a:endParaRPr lang="en-US" sz="13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4750" marR="54750"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1000"/>
                        </a:spcAft>
                      </a:pPr>
                      <a:r>
                        <a:rPr lang="en-US" sz="1300">
                          <a:solidFill>
                            <a:schemeClr val="tx1"/>
                          </a:solidFill>
                          <a:effectLst/>
                          <a:latin typeface="Times New Roman" panose="02020603050405020304" pitchFamily="18" charset="0"/>
                          <a:cs typeface="Times New Roman" panose="02020603050405020304" pitchFamily="18" charset="0"/>
                        </a:rPr>
                        <a:t>Giá trị</a:t>
                      </a:r>
                      <a:endParaRPr lang="en-US" sz="13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4750" marR="54750"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498544">
                <a:tc>
                  <a:txBody>
                    <a:bodyPr/>
                    <a:lstStyle/>
                    <a:p>
                      <a:pPr>
                        <a:lnSpc>
                          <a:spcPct val="115000"/>
                        </a:lnSpc>
                        <a:spcAft>
                          <a:spcPts val="1000"/>
                        </a:spcAft>
                      </a:pPr>
                      <a:r>
                        <a:rPr lang="en-US" sz="1300" dirty="0" err="1">
                          <a:solidFill>
                            <a:schemeClr val="tx1"/>
                          </a:solidFill>
                          <a:effectLst/>
                          <a:latin typeface="Times New Roman" panose="02020603050405020304" pitchFamily="18" charset="0"/>
                          <a:cs typeface="Times New Roman" panose="02020603050405020304" pitchFamily="18" charset="0"/>
                        </a:rPr>
                        <a:t>Môi</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trường</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tính</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toán</a:t>
                      </a:r>
                      <a:endParaRPr lang="en-US" sz="13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4750" marR="54750"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15000"/>
                        </a:lnSpc>
                        <a:spcAft>
                          <a:spcPts val="1000"/>
                        </a:spcAft>
                      </a:pPr>
                      <a:r>
                        <a:rPr lang="en-US" sz="1300">
                          <a:solidFill>
                            <a:schemeClr val="tx1"/>
                          </a:solidFill>
                          <a:effectLst/>
                          <a:latin typeface="Times New Roman" panose="02020603050405020304" pitchFamily="18" charset="0"/>
                          <a:cs typeface="Times New Roman" panose="02020603050405020304" pitchFamily="18" charset="0"/>
                        </a:rPr>
                        <a:t>NVIDIA H100 80GB HBM3 (bfloat16, no quantization)</a:t>
                      </a:r>
                      <a:endParaRPr lang="en-US" sz="13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4750" marR="54750"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94718">
                <a:tc>
                  <a:txBody>
                    <a:bodyPr/>
                    <a:lstStyle/>
                    <a:p>
                      <a:pPr>
                        <a:lnSpc>
                          <a:spcPct val="115000"/>
                        </a:lnSpc>
                        <a:spcAft>
                          <a:spcPts val="1000"/>
                        </a:spcAft>
                      </a:pPr>
                      <a:r>
                        <a:rPr lang="en-US" sz="1300" dirty="0" err="1">
                          <a:solidFill>
                            <a:schemeClr val="tx1"/>
                          </a:solidFill>
                          <a:effectLst/>
                          <a:latin typeface="Times New Roman" panose="02020603050405020304" pitchFamily="18" charset="0"/>
                          <a:cs typeface="Times New Roman" panose="02020603050405020304" pitchFamily="18" charset="0"/>
                        </a:rPr>
                        <a:t>Phương</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pháp</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tinh</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chỉnh</a:t>
                      </a:r>
                      <a:endParaRPr lang="en-US" sz="13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4750" marR="54750"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15000"/>
                        </a:lnSpc>
                        <a:spcAft>
                          <a:spcPts val="1000"/>
                        </a:spcAft>
                      </a:pPr>
                      <a:r>
                        <a:rPr lang="en-US" sz="1300" dirty="0" err="1">
                          <a:solidFill>
                            <a:schemeClr val="tx1"/>
                          </a:solidFill>
                          <a:effectLst/>
                          <a:latin typeface="Times New Roman" panose="02020603050405020304" pitchFamily="18" charset="0"/>
                          <a:cs typeface="Times New Roman" panose="02020603050405020304" pitchFamily="18" charset="0"/>
                        </a:rPr>
                        <a:t>LoRA</a:t>
                      </a:r>
                      <a:r>
                        <a:rPr lang="en-US" sz="1300" dirty="0">
                          <a:solidFill>
                            <a:schemeClr val="tx1"/>
                          </a:solidFill>
                          <a:effectLst/>
                          <a:latin typeface="Times New Roman" panose="02020603050405020304" pitchFamily="18" charset="0"/>
                          <a:cs typeface="Times New Roman" panose="02020603050405020304" pitchFamily="18" charset="0"/>
                        </a:rPr>
                        <a:t> Supervised Fine-Tuning (SFT)</a:t>
                      </a:r>
                      <a:endParaRPr lang="en-US" sz="13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4750" marR="54750"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94718">
                <a:tc>
                  <a:txBody>
                    <a:bodyPr/>
                    <a:lstStyle/>
                    <a:p>
                      <a:pPr>
                        <a:lnSpc>
                          <a:spcPct val="115000"/>
                        </a:lnSpc>
                        <a:spcAft>
                          <a:spcPts val="1000"/>
                        </a:spcAft>
                      </a:pPr>
                      <a:r>
                        <a:rPr lang="en-US" sz="1300">
                          <a:solidFill>
                            <a:schemeClr val="tx1"/>
                          </a:solidFill>
                          <a:effectLst/>
                          <a:latin typeface="Times New Roman" panose="02020603050405020304" pitchFamily="18" charset="0"/>
                          <a:cs typeface="Times New Roman" panose="02020603050405020304" pitchFamily="18" charset="0"/>
                        </a:rPr>
                        <a:t>LoRA rank r</a:t>
                      </a:r>
                      <a:endParaRPr lang="en-US" sz="13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4750" marR="54750"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15000"/>
                        </a:lnSpc>
                        <a:spcAft>
                          <a:spcPts val="1000"/>
                        </a:spcAft>
                      </a:pPr>
                      <a:r>
                        <a:rPr lang="en-US" sz="1300">
                          <a:solidFill>
                            <a:schemeClr val="tx1"/>
                          </a:solidFill>
                          <a:effectLst/>
                          <a:latin typeface="Times New Roman" panose="02020603050405020304" pitchFamily="18" charset="0"/>
                          <a:cs typeface="Times New Roman" panose="02020603050405020304" pitchFamily="18" charset="0"/>
                        </a:rPr>
                        <a:t>32</a:t>
                      </a:r>
                      <a:endParaRPr lang="en-US" sz="13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4750" marR="54750"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94718">
                <a:tc>
                  <a:txBody>
                    <a:bodyPr/>
                    <a:lstStyle/>
                    <a:p>
                      <a:pPr>
                        <a:lnSpc>
                          <a:spcPct val="115000"/>
                        </a:lnSpc>
                        <a:spcAft>
                          <a:spcPts val="1000"/>
                        </a:spcAft>
                      </a:pPr>
                      <a:r>
                        <a:rPr lang="en-US" sz="1300">
                          <a:solidFill>
                            <a:schemeClr val="tx1"/>
                          </a:solidFill>
                          <a:effectLst/>
                          <a:latin typeface="Times New Roman" panose="02020603050405020304" pitchFamily="18" charset="0"/>
                          <a:cs typeface="Times New Roman" panose="02020603050405020304" pitchFamily="18" charset="0"/>
                        </a:rPr>
                        <a:t>LoRA alpha α</a:t>
                      </a:r>
                      <a:endParaRPr lang="en-US" sz="13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4750" marR="54750"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15000"/>
                        </a:lnSpc>
                        <a:spcAft>
                          <a:spcPts val="1000"/>
                        </a:spcAft>
                      </a:pPr>
                      <a:r>
                        <a:rPr lang="en-US" sz="1300">
                          <a:solidFill>
                            <a:schemeClr val="tx1"/>
                          </a:solidFill>
                          <a:effectLst/>
                          <a:latin typeface="Times New Roman" panose="02020603050405020304" pitchFamily="18" charset="0"/>
                          <a:cs typeface="Times New Roman" panose="02020603050405020304" pitchFamily="18" charset="0"/>
                        </a:rPr>
                        <a:t>64 (tỉ lệ α/r = 2)</a:t>
                      </a:r>
                      <a:endParaRPr lang="en-US" sz="13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4750" marR="54750"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94718">
                <a:tc>
                  <a:txBody>
                    <a:bodyPr/>
                    <a:lstStyle/>
                    <a:p>
                      <a:pPr>
                        <a:lnSpc>
                          <a:spcPct val="115000"/>
                        </a:lnSpc>
                        <a:spcAft>
                          <a:spcPts val="1000"/>
                        </a:spcAft>
                      </a:pPr>
                      <a:r>
                        <a:rPr lang="en-US" sz="1300">
                          <a:solidFill>
                            <a:schemeClr val="tx1"/>
                          </a:solidFill>
                          <a:effectLst/>
                          <a:latin typeface="Times New Roman" panose="02020603050405020304" pitchFamily="18" charset="0"/>
                          <a:cs typeface="Times New Roman" panose="02020603050405020304" pitchFamily="18" charset="0"/>
                        </a:rPr>
                        <a:t>LoRA dropout</a:t>
                      </a:r>
                      <a:endParaRPr lang="en-US" sz="13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4750" marR="54750"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15000"/>
                        </a:lnSpc>
                        <a:spcAft>
                          <a:spcPts val="1000"/>
                        </a:spcAft>
                      </a:pPr>
                      <a:r>
                        <a:rPr lang="en-US" sz="1300">
                          <a:solidFill>
                            <a:schemeClr val="tx1"/>
                          </a:solidFill>
                          <a:effectLst/>
                          <a:latin typeface="Times New Roman" panose="02020603050405020304" pitchFamily="18" charset="0"/>
                          <a:cs typeface="Times New Roman" panose="02020603050405020304" pitchFamily="18" charset="0"/>
                        </a:rPr>
                        <a:t>0,05</a:t>
                      </a:r>
                      <a:endParaRPr lang="en-US" sz="13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4750" marR="54750"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498544">
                <a:tc>
                  <a:txBody>
                    <a:bodyPr/>
                    <a:lstStyle/>
                    <a:p>
                      <a:pPr>
                        <a:lnSpc>
                          <a:spcPct val="115000"/>
                        </a:lnSpc>
                        <a:spcAft>
                          <a:spcPts val="1000"/>
                        </a:spcAft>
                      </a:pPr>
                      <a:r>
                        <a:rPr lang="en-US" sz="1300">
                          <a:solidFill>
                            <a:schemeClr val="tx1"/>
                          </a:solidFill>
                          <a:effectLst/>
                          <a:latin typeface="Times New Roman" panose="02020603050405020304" pitchFamily="18" charset="0"/>
                          <a:cs typeface="Times New Roman" panose="02020603050405020304" pitchFamily="18" charset="0"/>
                        </a:rPr>
                        <a:t>Target modules</a:t>
                      </a:r>
                      <a:endParaRPr lang="en-US" sz="13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4750" marR="54750"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15000"/>
                        </a:lnSpc>
                        <a:spcAft>
                          <a:spcPts val="1000"/>
                        </a:spcAft>
                      </a:pPr>
                      <a:r>
                        <a:rPr lang="en-US" sz="1300" dirty="0" err="1">
                          <a:solidFill>
                            <a:schemeClr val="tx1"/>
                          </a:solidFill>
                          <a:effectLst/>
                          <a:latin typeface="Times New Roman" panose="02020603050405020304" pitchFamily="18" charset="0"/>
                          <a:cs typeface="Times New Roman" panose="02020603050405020304" pitchFamily="18" charset="0"/>
                        </a:rPr>
                        <a:t>q_proj</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k_proj</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v_proj</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o_proj</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gate_proj</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up_proj</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down_proj</a:t>
                      </a:r>
                      <a:endParaRPr lang="en-US" sz="13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4750" marR="54750"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94718">
                <a:tc>
                  <a:txBody>
                    <a:bodyPr/>
                    <a:lstStyle/>
                    <a:p>
                      <a:pPr>
                        <a:lnSpc>
                          <a:spcPct val="115000"/>
                        </a:lnSpc>
                        <a:spcAft>
                          <a:spcPts val="1000"/>
                        </a:spcAft>
                      </a:pPr>
                      <a:r>
                        <a:rPr lang="en-US" sz="1300">
                          <a:solidFill>
                            <a:schemeClr val="tx1"/>
                          </a:solidFill>
                          <a:effectLst/>
                          <a:latin typeface="Times New Roman" panose="02020603050405020304" pitchFamily="18" charset="0"/>
                          <a:cs typeface="Times New Roman" panose="02020603050405020304" pitchFamily="18" charset="0"/>
                        </a:rPr>
                        <a:t>Attention backend</a:t>
                      </a:r>
                      <a:endParaRPr lang="en-US" sz="13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4750" marR="54750"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15000"/>
                        </a:lnSpc>
                        <a:spcAft>
                          <a:spcPts val="1000"/>
                        </a:spcAft>
                      </a:pPr>
                      <a:r>
                        <a:rPr lang="en-US" sz="1300">
                          <a:solidFill>
                            <a:schemeClr val="tx1"/>
                          </a:solidFill>
                          <a:effectLst/>
                          <a:latin typeface="Times New Roman" panose="02020603050405020304" pitchFamily="18" charset="0"/>
                          <a:cs typeface="Times New Roman" panose="02020603050405020304" pitchFamily="18" charset="0"/>
                        </a:rPr>
                        <a:t>Flash Attention 2 (native H100)</a:t>
                      </a:r>
                      <a:endParaRPr lang="en-US" sz="13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4750" marR="54750"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94718">
                <a:tc>
                  <a:txBody>
                    <a:bodyPr/>
                    <a:lstStyle/>
                    <a:p>
                      <a:pPr>
                        <a:lnSpc>
                          <a:spcPct val="115000"/>
                        </a:lnSpc>
                        <a:spcAft>
                          <a:spcPts val="1000"/>
                        </a:spcAft>
                      </a:pPr>
                      <a:r>
                        <a:rPr lang="en-US" sz="1300">
                          <a:solidFill>
                            <a:schemeClr val="tx1"/>
                          </a:solidFill>
                          <a:effectLst/>
                          <a:latin typeface="Times New Roman" panose="02020603050405020304" pitchFamily="18" charset="0"/>
                          <a:cs typeface="Times New Roman" panose="02020603050405020304" pitchFamily="18" charset="0"/>
                        </a:rPr>
                        <a:t>Định dạng tính toán</a:t>
                      </a:r>
                      <a:endParaRPr lang="en-US" sz="13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4750" marR="54750"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15000"/>
                        </a:lnSpc>
                        <a:spcAft>
                          <a:spcPts val="1000"/>
                        </a:spcAft>
                      </a:pPr>
                      <a:r>
                        <a:rPr lang="en-US" sz="1300">
                          <a:solidFill>
                            <a:schemeClr val="tx1"/>
                          </a:solidFill>
                          <a:effectLst/>
                          <a:latin typeface="Times New Roman" panose="02020603050405020304" pitchFamily="18" charset="0"/>
                          <a:cs typeface="Times New Roman" panose="02020603050405020304" pitchFamily="18" charset="0"/>
                        </a:rPr>
                        <a:t>bfloat16</a:t>
                      </a:r>
                      <a:endParaRPr lang="en-US" sz="13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4750" marR="54750"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94718">
                <a:tc>
                  <a:txBody>
                    <a:bodyPr/>
                    <a:lstStyle/>
                    <a:p>
                      <a:pPr>
                        <a:lnSpc>
                          <a:spcPct val="115000"/>
                        </a:lnSpc>
                        <a:spcAft>
                          <a:spcPts val="1000"/>
                        </a:spcAft>
                      </a:pPr>
                      <a:r>
                        <a:rPr lang="en-US" sz="1300">
                          <a:solidFill>
                            <a:schemeClr val="tx1"/>
                          </a:solidFill>
                          <a:effectLst/>
                          <a:latin typeface="Times New Roman" panose="02020603050405020304" pitchFamily="18" charset="0"/>
                          <a:cs typeface="Times New Roman" panose="02020603050405020304" pitchFamily="18" charset="0"/>
                        </a:rPr>
                        <a:t>Độ dài chuỗi tối đa</a:t>
                      </a:r>
                      <a:endParaRPr lang="en-US" sz="13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4750" marR="54750"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15000"/>
                        </a:lnSpc>
                        <a:spcAft>
                          <a:spcPts val="1000"/>
                        </a:spcAft>
                      </a:pPr>
                      <a:r>
                        <a:rPr lang="en-US" sz="1300">
                          <a:solidFill>
                            <a:schemeClr val="tx1"/>
                          </a:solidFill>
                          <a:effectLst/>
                          <a:latin typeface="Times New Roman" panose="02020603050405020304" pitchFamily="18" charset="0"/>
                          <a:cs typeface="Times New Roman" panose="02020603050405020304" pitchFamily="18" charset="0"/>
                        </a:rPr>
                        <a:t>2.048 token</a:t>
                      </a:r>
                      <a:endParaRPr lang="en-US" sz="13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4750" marR="54750"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94718">
                <a:tc>
                  <a:txBody>
                    <a:bodyPr/>
                    <a:lstStyle/>
                    <a:p>
                      <a:pPr>
                        <a:lnSpc>
                          <a:spcPct val="115000"/>
                        </a:lnSpc>
                        <a:spcAft>
                          <a:spcPts val="1000"/>
                        </a:spcAft>
                      </a:pPr>
                      <a:r>
                        <a:rPr lang="en-US" sz="1300">
                          <a:solidFill>
                            <a:schemeClr val="tx1"/>
                          </a:solidFill>
                          <a:effectLst/>
                          <a:latin typeface="Times New Roman" panose="02020603050405020304" pitchFamily="18" charset="0"/>
                          <a:cs typeface="Times New Roman" panose="02020603050405020304" pitchFamily="18" charset="0"/>
                        </a:rPr>
                        <a:t>Batch size hiệu dụng</a:t>
                      </a:r>
                      <a:endParaRPr lang="en-US" sz="13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4750" marR="54750"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15000"/>
                        </a:lnSpc>
                        <a:spcAft>
                          <a:spcPts val="1000"/>
                        </a:spcAft>
                      </a:pPr>
                      <a:r>
                        <a:rPr lang="en-US" sz="1300">
                          <a:solidFill>
                            <a:schemeClr val="tx1"/>
                          </a:solidFill>
                          <a:effectLst/>
                          <a:latin typeface="Times New Roman" panose="02020603050405020304" pitchFamily="18" charset="0"/>
                          <a:cs typeface="Times New Roman" panose="02020603050405020304" pitchFamily="18" charset="0"/>
                        </a:rPr>
                        <a:t>16 (batch=4 × grad_accum=4)</a:t>
                      </a:r>
                      <a:endParaRPr lang="en-US" sz="13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4750" marR="54750"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94718">
                <a:tc>
                  <a:txBody>
                    <a:bodyPr/>
                    <a:lstStyle/>
                    <a:p>
                      <a:pPr>
                        <a:lnSpc>
                          <a:spcPct val="115000"/>
                        </a:lnSpc>
                        <a:spcAft>
                          <a:spcPts val="1000"/>
                        </a:spcAft>
                      </a:pPr>
                      <a:r>
                        <a:rPr lang="en-US" sz="1300">
                          <a:solidFill>
                            <a:schemeClr val="tx1"/>
                          </a:solidFill>
                          <a:effectLst/>
                          <a:latin typeface="Times New Roman" panose="02020603050405020304" pitchFamily="18" charset="0"/>
                          <a:cs typeface="Times New Roman" panose="02020603050405020304" pitchFamily="18" charset="0"/>
                        </a:rPr>
                        <a:t>Số epoch</a:t>
                      </a:r>
                      <a:endParaRPr lang="en-US" sz="13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4750" marR="54750"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15000"/>
                        </a:lnSpc>
                        <a:spcAft>
                          <a:spcPts val="1000"/>
                        </a:spcAft>
                      </a:pPr>
                      <a:r>
                        <a:rPr lang="en-US" sz="1300">
                          <a:solidFill>
                            <a:schemeClr val="tx1"/>
                          </a:solidFill>
                          <a:effectLst/>
                          <a:latin typeface="Times New Roman" panose="02020603050405020304" pitchFamily="18" charset="0"/>
                          <a:cs typeface="Times New Roman" panose="02020603050405020304" pitchFamily="18" charset="0"/>
                        </a:rPr>
                        <a:t>3</a:t>
                      </a:r>
                      <a:endParaRPr lang="en-US" sz="13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4750" marR="54750"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94718">
                <a:tc>
                  <a:txBody>
                    <a:bodyPr/>
                    <a:lstStyle/>
                    <a:p>
                      <a:pPr>
                        <a:lnSpc>
                          <a:spcPct val="115000"/>
                        </a:lnSpc>
                        <a:spcAft>
                          <a:spcPts val="1000"/>
                        </a:spcAft>
                      </a:pPr>
                      <a:r>
                        <a:rPr lang="en-US" sz="1300">
                          <a:solidFill>
                            <a:schemeClr val="tx1"/>
                          </a:solidFill>
                          <a:effectLst/>
                          <a:latin typeface="Times New Roman" panose="02020603050405020304" pitchFamily="18" charset="0"/>
                          <a:cs typeface="Times New Roman" panose="02020603050405020304" pitchFamily="18" charset="0"/>
                        </a:rPr>
                        <a:t>Tổng số bước huấn luyện</a:t>
                      </a:r>
                      <a:endParaRPr lang="en-US" sz="13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4750" marR="54750"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15000"/>
                        </a:lnSpc>
                        <a:spcAft>
                          <a:spcPts val="1000"/>
                        </a:spcAft>
                      </a:pPr>
                      <a:r>
                        <a:rPr lang="en-US" sz="1300">
                          <a:solidFill>
                            <a:schemeClr val="tx1"/>
                          </a:solidFill>
                          <a:effectLst/>
                          <a:latin typeface="Times New Roman" panose="02020603050405020304" pitchFamily="18" charset="0"/>
                          <a:cs typeface="Times New Roman" panose="02020603050405020304" pitchFamily="18" charset="0"/>
                        </a:rPr>
                        <a:t>5.616 bước</a:t>
                      </a:r>
                      <a:endParaRPr lang="en-US" sz="13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4750" marR="54750"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94718">
                <a:tc>
                  <a:txBody>
                    <a:bodyPr/>
                    <a:lstStyle/>
                    <a:p>
                      <a:pPr>
                        <a:lnSpc>
                          <a:spcPct val="115000"/>
                        </a:lnSpc>
                        <a:spcAft>
                          <a:spcPts val="1000"/>
                        </a:spcAft>
                      </a:pPr>
                      <a:r>
                        <a:rPr lang="en-US" sz="1300">
                          <a:solidFill>
                            <a:schemeClr val="tx1"/>
                          </a:solidFill>
                          <a:effectLst/>
                          <a:latin typeface="Times New Roman" panose="02020603050405020304" pitchFamily="18" charset="0"/>
                          <a:cs typeface="Times New Roman" panose="02020603050405020304" pitchFamily="18" charset="0"/>
                        </a:rPr>
                        <a:t>Learning rate</a:t>
                      </a:r>
                      <a:endParaRPr lang="en-US" sz="13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4750" marR="54750"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15000"/>
                        </a:lnSpc>
                        <a:spcAft>
                          <a:spcPts val="1000"/>
                        </a:spcAft>
                      </a:pPr>
                      <a:r>
                        <a:rPr lang="en-US" sz="1300">
                          <a:solidFill>
                            <a:schemeClr val="tx1"/>
                          </a:solidFill>
                          <a:effectLst/>
                          <a:latin typeface="Times New Roman" panose="02020603050405020304" pitchFamily="18" charset="0"/>
                          <a:cs typeface="Times New Roman" panose="02020603050405020304" pitchFamily="18" charset="0"/>
                        </a:rPr>
                        <a:t>5 × 10⁻⁵ (cosine schedule, warmup 3%)</a:t>
                      </a:r>
                      <a:endParaRPr lang="en-US" sz="13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4750" marR="54750"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94718">
                <a:tc>
                  <a:txBody>
                    <a:bodyPr/>
                    <a:lstStyle/>
                    <a:p>
                      <a:pPr>
                        <a:lnSpc>
                          <a:spcPct val="115000"/>
                        </a:lnSpc>
                        <a:spcAft>
                          <a:spcPts val="1000"/>
                        </a:spcAft>
                      </a:pPr>
                      <a:r>
                        <a:rPr lang="en-US" sz="1300">
                          <a:solidFill>
                            <a:schemeClr val="tx1"/>
                          </a:solidFill>
                          <a:effectLst/>
                          <a:latin typeface="Times New Roman" panose="02020603050405020304" pitchFamily="18" charset="0"/>
                          <a:cs typeface="Times New Roman" panose="02020603050405020304" pitchFamily="18" charset="0"/>
                        </a:rPr>
                        <a:t>Optimizer</a:t>
                      </a:r>
                      <a:endParaRPr lang="en-US" sz="13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4750" marR="54750"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15000"/>
                        </a:lnSpc>
                        <a:spcAft>
                          <a:spcPts val="1000"/>
                        </a:spcAft>
                      </a:pPr>
                      <a:r>
                        <a:rPr lang="en-US" sz="1300" dirty="0" err="1">
                          <a:solidFill>
                            <a:schemeClr val="tx1"/>
                          </a:solidFill>
                          <a:effectLst/>
                          <a:latin typeface="Times New Roman" panose="02020603050405020304" pitchFamily="18" charset="0"/>
                          <a:cs typeface="Times New Roman" panose="02020603050405020304" pitchFamily="18" charset="0"/>
                        </a:rPr>
                        <a:t>AdamW</a:t>
                      </a:r>
                      <a:r>
                        <a:rPr lang="en-US" sz="1300" dirty="0">
                          <a:solidFill>
                            <a:schemeClr val="tx1"/>
                          </a:solidFill>
                          <a:effectLst/>
                          <a:latin typeface="Times New Roman" panose="02020603050405020304" pitchFamily="18" charset="0"/>
                          <a:cs typeface="Times New Roman" panose="02020603050405020304" pitchFamily="18" charset="0"/>
                        </a:rPr>
                        <a:t> 8-bit</a:t>
                      </a:r>
                      <a:endParaRPr lang="en-US" sz="13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4750" marR="54750"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94718">
                <a:tc>
                  <a:txBody>
                    <a:bodyPr/>
                    <a:lstStyle/>
                    <a:p>
                      <a:pPr>
                        <a:lnSpc>
                          <a:spcPct val="115000"/>
                        </a:lnSpc>
                        <a:spcAft>
                          <a:spcPts val="1000"/>
                        </a:spcAft>
                      </a:pPr>
                      <a:r>
                        <a:rPr lang="en-US" sz="1300" dirty="0" err="1">
                          <a:solidFill>
                            <a:schemeClr val="tx1"/>
                          </a:solidFill>
                          <a:effectLst/>
                          <a:latin typeface="Times New Roman" panose="02020603050405020304" pitchFamily="18" charset="0"/>
                          <a:cs typeface="Times New Roman" panose="02020603050405020304" pitchFamily="18" charset="0"/>
                        </a:rPr>
                        <a:t>Tập</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huấn</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luyện</a:t>
                      </a:r>
                      <a:endParaRPr lang="en-US" sz="13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4750" marR="54750"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15000"/>
                        </a:lnSpc>
                        <a:spcAft>
                          <a:spcPts val="1000"/>
                        </a:spcAft>
                      </a:pPr>
                      <a:r>
                        <a:rPr lang="en-US" sz="1300" dirty="0">
                          <a:solidFill>
                            <a:schemeClr val="tx1"/>
                          </a:solidFill>
                          <a:effectLst/>
                          <a:latin typeface="Times New Roman" panose="02020603050405020304" pitchFamily="18" charset="0"/>
                          <a:cs typeface="Times New Roman" panose="02020603050405020304" pitchFamily="18" charset="0"/>
                        </a:rPr>
                        <a:t>29.961 </a:t>
                      </a:r>
                      <a:r>
                        <a:rPr lang="en-US" sz="1300" dirty="0" err="1">
                          <a:solidFill>
                            <a:schemeClr val="tx1"/>
                          </a:solidFill>
                          <a:effectLst/>
                          <a:latin typeface="Times New Roman" panose="02020603050405020304" pitchFamily="18" charset="0"/>
                          <a:cs typeface="Times New Roman" panose="02020603050405020304" pitchFamily="18" charset="0"/>
                        </a:rPr>
                        <a:t>mẫu</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smtClean="0">
                          <a:solidFill>
                            <a:schemeClr val="tx1"/>
                          </a:solidFill>
                          <a:effectLst/>
                          <a:latin typeface="Times New Roman" panose="02020603050405020304" pitchFamily="18" charset="0"/>
                          <a:cs typeface="Times New Roman" panose="02020603050405020304" pitchFamily="18" charset="0"/>
                        </a:rPr>
                        <a:t>90%)</a:t>
                      </a:r>
                      <a:endParaRPr lang="en-US" sz="13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4750" marR="54750"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94718">
                <a:tc>
                  <a:txBody>
                    <a:bodyPr/>
                    <a:lstStyle/>
                    <a:p>
                      <a:pPr>
                        <a:lnSpc>
                          <a:spcPct val="115000"/>
                        </a:lnSpc>
                        <a:spcAft>
                          <a:spcPts val="1000"/>
                        </a:spcAft>
                      </a:pPr>
                      <a:r>
                        <a:rPr lang="en-US" sz="1300" dirty="0" err="1">
                          <a:solidFill>
                            <a:schemeClr val="tx1"/>
                          </a:solidFill>
                          <a:effectLst/>
                          <a:latin typeface="Times New Roman" panose="02020603050405020304" pitchFamily="18" charset="0"/>
                          <a:cs typeface="Times New Roman" panose="02020603050405020304" pitchFamily="18" charset="0"/>
                        </a:rPr>
                        <a:t>Tập</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kiểm</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định</a:t>
                      </a:r>
                      <a:endParaRPr lang="en-US" sz="13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4750" marR="54750"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15000"/>
                        </a:lnSpc>
                        <a:spcAft>
                          <a:spcPts val="1000"/>
                        </a:spcAft>
                      </a:pPr>
                      <a:r>
                        <a:rPr lang="en-US" sz="1300" dirty="0">
                          <a:solidFill>
                            <a:schemeClr val="tx1"/>
                          </a:solidFill>
                          <a:effectLst/>
                          <a:latin typeface="Times New Roman" panose="02020603050405020304" pitchFamily="18" charset="0"/>
                          <a:cs typeface="Times New Roman" panose="02020603050405020304" pitchFamily="18" charset="0"/>
                        </a:rPr>
                        <a:t>1.577 </a:t>
                      </a:r>
                      <a:r>
                        <a:rPr lang="en-US" sz="1300" dirty="0" err="1">
                          <a:solidFill>
                            <a:schemeClr val="tx1"/>
                          </a:solidFill>
                          <a:effectLst/>
                          <a:latin typeface="Times New Roman" panose="02020603050405020304" pitchFamily="18" charset="0"/>
                          <a:cs typeface="Times New Roman" panose="02020603050405020304" pitchFamily="18" charset="0"/>
                        </a:rPr>
                        <a:t>mẫu</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smtClean="0">
                          <a:solidFill>
                            <a:schemeClr val="tx1"/>
                          </a:solidFill>
                          <a:effectLst/>
                          <a:latin typeface="Times New Roman" panose="02020603050405020304" pitchFamily="18" charset="0"/>
                          <a:cs typeface="Times New Roman" panose="02020603050405020304" pitchFamily="18" charset="0"/>
                        </a:rPr>
                        <a:t>(10%)</a:t>
                      </a:r>
                      <a:endParaRPr lang="en-US" sz="13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4750" marR="54750"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Tree>
    <p:extLst>
      <p:ext uri="{BB962C8B-B14F-4D97-AF65-F5344CB8AC3E}">
        <p14:creationId xmlns:p14="http://schemas.microsoft.com/office/powerpoint/2010/main" val="267544188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1152628579"/>
              </p:ext>
            </p:extLst>
          </p:nvPr>
        </p:nvGraphicFramePr>
        <p:xfrm>
          <a:off x="2168466" y="1685077"/>
          <a:ext cx="7846803" cy="3283740"/>
        </p:xfrm>
        <a:graphic>
          <a:graphicData uri="http://schemas.openxmlformats.org/drawingml/2006/table">
            <a:tbl>
              <a:tblPr firstRow="1" firstCol="1" bandRow="1">
                <a:tableStyleId>{5C22544A-7EE6-4342-B048-85BDC9FD1C3A}</a:tableStyleId>
              </a:tblPr>
              <a:tblGrid>
                <a:gridCol w="2193730"/>
                <a:gridCol w="1096865"/>
                <a:gridCol w="1518736"/>
                <a:gridCol w="1603110"/>
                <a:gridCol w="1434362"/>
              </a:tblGrid>
              <a:tr h="656748">
                <a:tc>
                  <a:txBody>
                    <a:bodyPr/>
                    <a:lstStyle/>
                    <a:p>
                      <a:pPr algn="ctr">
                        <a:lnSpc>
                          <a:spcPct val="115000"/>
                        </a:lnSpc>
                        <a:spcAft>
                          <a:spcPts val="1000"/>
                        </a:spcAft>
                      </a:pPr>
                      <a:r>
                        <a:rPr lang="en-US" sz="1300" dirty="0" err="1">
                          <a:solidFill>
                            <a:schemeClr val="tx1"/>
                          </a:solidFill>
                          <a:effectLst/>
                          <a:latin typeface="Times New Roman" panose="02020603050405020304" pitchFamily="18" charset="0"/>
                          <a:cs typeface="Times New Roman" panose="02020603050405020304" pitchFamily="18" charset="0"/>
                        </a:rPr>
                        <a:t>Mô</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hình</a:t>
                      </a:r>
                      <a:endParaRPr lang="en-US" sz="13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1000"/>
                        </a:spcAft>
                      </a:pPr>
                      <a:r>
                        <a:rPr lang="en-US" sz="1300">
                          <a:solidFill>
                            <a:schemeClr val="tx1"/>
                          </a:solidFill>
                          <a:effectLst/>
                          <a:latin typeface="Times New Roman" panose="02020603050405020304" pitchFamily="18" charset="0"/>
                          <a:cs typeface="Times New Roman" panose="02020603050405020304" pitchFamily="18" charset="0"/>
                        </a:rPr>
                        <a:t>Tham số</a:t>
                      </a:r>
                      <a:endParaRPr lang="en-US" sz="13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1000"/>
                        </a:spcAft>
                      </a:pPr>
                      <a:r>
                        <a:rPr lang="en-US" sz="1300" dirty="0" err="1">
                          <a:solidFill>
                            <a:schemeClr val="tx1"/>
                          </a:solidFill>
                          <a:effectLst/>
                          <a:latin typeface="Times New Roman" panose="02020603050405020304" pitchFamily="18" charset="0"/>
                          <a:cs typeface="Times New Roman" panose="02020603050405020304" pitchFamily="18" charset="0"/>
                        </a:rPr>
                        <a:t>Giấy</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phép</a:t>
                      </a:r>
                      <a:endParaRPr lang="en-US" sz="13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1000"/>
                        </a:spcAft>
                      </a:pPr>
                      <a:r>
                        <a:rPr lang="en-US" sz="1300">
                          <a:solidFill>
                            <a:schemeClr val="tx1"/>
                          </a:solidFill>
                          <a:effectLst/>
                          <a:latin typeface="Times New Roman" panose="02020603050405020304" pitchFamily="18" charset="0"/>
                          <a:cs typeface="Times New Roman" panose="02020603050405020304" pitchFamily="18" charset="0"/>
                        </a:rPr>
                        <a:t>Chat template</a:t>
                      </a:r>
                      <a:endParaRPr lang="en-US" sz="13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1000"/>
                        </a:spcAft>
                      </a:pPr>
                      <a:r>
                        <a:rPr lang="en-US" sz="1300">
                          <a:solidFill>
                            <a:schemeClr val="tx1"/>
                          </a:solidFill>
                          <a:effectLst/>
                          <a:latin typeface="Times New Roman" panose="02020603050405020304" pitchFamily="18" charset="0"/>
                          <a:cs typeface="Times New Roman" panose="02020603050405020304" pitchFamily="18" charset="0"/>
                        </a:rPr>
                        <a:t>Trainable LoRA (%)</a:t>
                      </a:r>
                      <a:endParaRPr lang="en-US" sz="13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656748">
                <a:tc>
                  <a:txBody>
                    <a:bodyPr/>
                    <a:lstStyle/>
                    <a:p>
                      <a:pPr algn="ctr">
                        <a:lnSpc>
                          <a:spcPct val="115000"/>
                        </a:lnSpc>
                        <a:spcAft>
                          <a:spcPts val="1000"/>
                        </a:spcAft>
                      </a:pPr>
                      <a:r>
                        <a:rPr lang="en-US" sz="1300" dirty="0">
                          <a:solidFill>
                            <a:schemeClr val="tx1"/>
                          </a:solidFill>
                          <a:effectLst/>
                          <a:latin typeface="Times New Roman" panose="02020603050405020304" pitchFamily="18" charset="0"/>
                          <a:cs typeface="Times New Roman" panose="02020603050405020304" pitchFamily="18" charset="0"/>
                        </a:rPr>
                        <a:t>Qwen2.5-7B-Instruct</a:t>
                      </a:r>
                      <a:endParaRPr lang="en-US" sz="13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1000"/>
                        </a:spcAft>
                      </a:pPr>
                      <a:r>
                        <a:rPr lang="en-US" sz="1300">
                          <a:solidFill>
                            <a:schemeClr val="tx1"/>
                          </a:solidFill>
                          <a:effectLst/>
                          <a:latin typeface="Times New Roman" panose="02020603050405020304" pitchFamily="18" charset="0"/>
                          <a:cs typeface="Times New Roman" panose="02020603050405020304" pitchFamily="18" charset="0"/>
                        </a:rPr>
                        <a:t>7,62 tỉ</a:t>
                      </a:r>
                      <a:endParaRPr lang="en-US" sz="13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1000"/>
                        </a:spcAft>
                      </a:pPr>
                      <a:r>
                        <a:rPr lang="en-US" sz="1300">
                          <a:solidFill>
                            <a:schemeClr val="tx1"/>
                          </a:solidFill>
                          <a:effectLst/>
                          <a:latin typeface="Times New Roman" panose="02020603050405020304" pitchFamily="18" charset="0"/>
                          <a:cs typeface="Times New Roman" panose="02020603050405020304" pitchFamily="18" charset="0"/>
                        </a:rPr>
                        <a:t>Apache 2.0</a:t>
                      </a:r>
                      <a:endParaRPr lang="en-US" sz="13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1000"/>
                        </a:spcAft>
                      </a:pPr>
                      <a:r>
                        <a:rPr lang="en-US" sz="1300">
                          <a:solidFill>
                            <a:schemeClr val="tx1"/>
                          </a:solidFill>
                          <a:effectLst/>
                          <a:latin typeface="Times New Roman" panose="02020603050405020304" pitchFamily="18" charset="0"/>
                          <a:cs typeface="Times New Roman" panose="02020603050405020304" pitchFamily="18" charset="0"/>
                        </a:rPr>
                        <a:t>ChatML (&lt;|im_start|&gt;)</a:t>
                      </a:r>
                      <a:endParaRPr lang="en-US" sz="13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1000"/>
                        </a:spcAft>
                      </a:pPr>
                      <a:r>
                        <a:rPr lang="en-US" sz="1300">
                          <a:solidFill>
                            <a:schemeClr val="tx1"/>
                          </a:solidFill>
                          <a:effectLst/>
                          <a:latin typeface="Times New Roman" panose="02020603050405020304" pitchFamily="18" charset="0"/>
                          <a:cs typeface="Times New Roman" panose="02020603050405020304" pitchFamily="18" charset="0"/>
                        </a:rPr>
                        <a:t>80,7 M (1,05%)</a:t>
                      </a:r>
                      <a:endParaRPr lang="en-US" sz="13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656748">
                <a:tc>
                  <a:txBody>
                    <a:bodyPr/>
                    <a:lstStyle/>
                    <a:p>
                      <a:pPr algn="ctr">
                        <a:lnSpc>
                          <a:spcPct val="115000"/>
                        </a:lnSpc>
                        <a:spcAft>
                          <a:spcPts val="1000"/>
                        </a:spcAft>
                      </a:pPr>
                      <a:r>
                        <a:rPr lang="en-US" sz="1300">
                          <a:solidFill>
                            <a:schemeClr val="tx1"/>
                          </a:solidFill>
                          <a:effectLst/>
                          <a:latin typeface="Times New Roman" panose="02020603050405020304" pitchFamily="18" charset="0"/>
                          <a:cs typeface="Times New Roman" panose="02020603050405020304" pitchFamily="18" charset="0"/>
                        </a:rPr>
                        <a:t>Llama-3.1-8B-Instruct</a:t>
                      </a:r>
                      <a:endParaRPr lang="en-US" sz="13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1000"/>
                        </a:spcAft>
                      </a:pPr>
                      <a:r>
                        <a:rPr lang="en-US" sz="1300">
                          <a:solidFill>
                            <a:schemeClr val="tx1"/>
                          </a:solidFill>
                          <a:effectLst/>
                          <a:latin typeface="Times New Roman" panose="02020603050405020304" pitchFamily="18" charset="0"/>
                          <a:cs typeface="Times New Roman" panose="02020603050405020304" pitchFamily="18" charset="0"/>
                        </a:rPr>
                        <a:t>8,03 tỉ</a:t>
                      </a:r>
                      <a:endParaRPr lang="en-US" sz="13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1000"/>
                        </a:spcAft>
                      </a:pPr>
                      <a:r>
                        <a:rPr lang="en-US" sz="1300">
                          <a:solidFill>
                            <a:schemeClr val="tx1"/>
                          </a:solidFill>
                          <a:effectLst/>
                          <a:latin typeface="Times New Roman" panose="02020603050405020304" pitchFamily="18" charset="0"/>
                          <a:cs typeface="Times New Roman" panose="02020603050405020304" pitchFamily="18" charset="0"/>
                        </a:rPr>
                        <a:t>Llama 3.1 Community</a:t>
                      </a:r>
                      <a:endParaRPr lang="en-US" sz="13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1000"/>
                        </a:spcAft>
                      </a:pPr>
                      <a:r>
                        <a:rPr lang="en-US" sz="1300">
                          <a:solidFill>
                            <a:schemeClr val="tx1"/>
                          </a:solidFill>
                          <a:effectLst/>
                          <a:latin typeface="Times New Roman" panose="02020603050405020304" pitchFamily="18" charset="0"/>
                          <a:cs typeface="Times New Roman" panose="02020603050405020304" pitchFamily="18" charset="0"/>
                        </a:rPr>
                        <a:t>Llama-3 special tokens</a:t>
                      </a:r>
                      <a:endParaRPr lang="en-US" sz="13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1000"/>
                        </a:spcAft>
                      </a:pPr>
                      <a:r>
                        <a:rPr lang="en-US" sz="1300">
                          <a:solidFill>
                            <a:schemeClr val="tx1"/>
                          </a:solidFill>
                          <a:effectLst/>
                          <a:latin typeface="Times New Roman" panose="02020603050405020304" pitchFamily="18" charset="0"/>
                          <a:cs typeface="Times New Roman" panose="02020603050405020304" pitchFamily="18" charset="0"/>
                        </a:rPr>
                        <a:t>83,9 M (1,04%)</a:t>
                      </a:r>
                      <a:endParaRPr lang="en-US" sz="13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656748">
                <a:tc>
                  <a:txBody>
                    <a:bodyPr/>
                    <a:lstStyle/>
                    <a:p>
                      <a:pPr algn="ctr">
                        <a:lnSpc>
                          <a:spcPct val="115000"/>
                        </a:lnSpc>
                        <a:spcAft>
                          <a:spcPts val="1000"/>
                        </a:spcAft>
                      </a:pPr>
                      <a:r>
                        <a:rPr lang="en-US" sz="1300">
                          <a:solidFill>
                            <a:schemeClr val="tx1"/>
                          </a:solidFill>
                          <a:effectLst/>
                          <a:latin typeface="Times New Roman" panose="02020603050405020304" pitchFamily="18" charset="0"/>
                          <a:cs typeface="Times New Roman" panose="02020603050405020304" pitchFamily="18" charset="0"/>
                        </a:rPr>
                        <a:t>Mistral-7B-Instruct-v0.3</a:t>
                      </a:r>
                      <a:endParaRPr lang="en-US" sz="13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1000"/>
                        </a:spcAft>
                      </a:pPr>
                      <a:r>
                        <a:rPr lang="en-US" sz="1300">
                          <a:solidFill>
                            <a:schemeClr val="tx1"/>
                          </a:solidFill>
                          <a:effectLst/>
                          <a:latin typeface="Times New Roman" panose="02020603050405020304" pitchFamily="18" charset="0"/>
                          <a:cs typeface="Times New Roman" panose="02020603050405020304" pitchFamily="18" charset="0"/>
                        </a:rPr>
                        <a:t>7,25 tỉ</a:t>
                      </a:r>
                      <a:endParaRPr lang="en-US" sz="13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1000"/>
                        </a:spcAft>
                      </a:pPr>
                      <a:r>
                        <a:rPr lang="en-US" sz="1300">
                          <a:solidFill>
                            <a:schemeClr val="tx1"/>
                          </a:solidFill>
                          <a:effectLst/>
                          <a:latin typeface="Times New Roman" panose="02020603050405020304" pitchFamily="18" charset="0"/>
                          <a:cs typeface="Times New Roman" panose="02020603050405020304" pitchFamily="18" charset="0"/>
                        </a:rPr>
                        <a:t>Apache 2.0</a:t>
                      </a:r>
                      <a:endParaRPr lang="en-US" sz="13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1000"/>
                        </a:spcAft>
                      </a:pPr>
                      <a:r>
                        <a:rPr lang="en-US" sz="1300">
                          <a:solidFill>
                            <a:schemeClr val="tx1"/>
                          </a:solidFill>
                          <a:effectLst/>
                          <a:latin typeface="Times New Roman" panose="02020603050405020304" pitchFamily="18" charset="0"/>
                          <a:cs typeface="Times New Roman" panose="02020603050405020304" pitchFamily="18" charset="0"/>
                        </a:rPr>
                        <a:t>[INST]...[/INST]</a:t>
                      </a:r>
                      <a:endParaRPr lang="en-US" sz="13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1000"/>
                        </a:spcAft>
                      </a:pPr>
                      <a:r>
                        <a:rPr lang="en-US" sz="1300">
                          <a:solidFill>
                            <a:schemeClr val="tx1"/>
                          </a:solidFill>
                          <a:effectLst/>
                          <a:latin typeface="Times New Roman" panose="02020603050405020304" pitchFamily="18" charset="0"/>
                          <a:cs typeface="Times New Roman" panose="02020603050405020304" pitchFamily="18" charset="0"/>
                        </a:rPr>
                        <a:t>83,9 M (1,16%)</a:t>
                      </a:r>
                      <a:endParaRPr lang="en-US" sz="13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656748">
                <a:tc>
                  <a:txBody>
                    <a:bodyPr/>
                    <a:lstStyle/>
                    <a:p>
                      <a:pPr algn="ctr">
                        <a:lnSpc>
                          <a:spcPct val="115000"/>
                        </a:lnSpc>
                        <a:spcAft>
                          <a:spcPts val="1000"/>
                        </a:spcAft>
                      </a:pPr>
                      <a:r>
                        <a:rPr lang="en-US" sz="1300">
                          <a:solidFill>
                            <a:schemeClr val="tx1"/>
                          </a:solidFill>
                          <a:effectLst/>
                          <a:latin typeface="Times New Roman" panose="02020603050405020304" pitchFamily="18" charset="0"/>
                          <a:cs typeface="Times New Roman" panose="02020603050405020304" pitchFamily="18" charset="0"/>
                        </a:rPr>
                        <a:t>Gemma2-9B-it</a:t>
                      </a:r>
                      <a:endParaRPr lang="en-US" sz="13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1000"/>
                        </a:spcAft>
                      </a:pPr>
                      <a:r>
                        <a:rPr lang="en-US" sz="1300">
                          <a:solidFill>
                            <a:schemeClr val="tx1"/>
                          </a:solidFill>
                          <a:effectLst/>
                          <a:latin typeface="Times New Roman" panose="02020603050405020304" pitchFamily="18" charset="0"/>
                          <a:cs typeface="Times New Roman" panose="02020603050405020304" pitchFamily="18" charset="0"/>
                        </a:rPr>
                        <a:t>9,24 tỉ</a:t>
                      </a:r>
                      <a:endParaRPr lang="en-US" sz="13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1000"/>
                        </a:spcAft>
                      </a:pPr>
                      <a:r>
                        <a:rPr lang="en-US" sz="1300">
                          <a:solidFill>
                            <a:schemeClr val="tx1"/>
                          </a:solidFill>
                          <a:effectLst/>
                          <a:latin typeface="Times New Roman" panose="02020603050405020304" pitchFamily="18" charset="0"/>
                          <a:cs typeface="Times New Roman" panose="02020603050405020304" pitchFamily="18" charset="0"/>
                        </a:rPr>
                        <a:t>Gemma Terms of Use</a:t>
                      </a:r>
                      <a:endParaRPr lang="en-US" sz="13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1000"/>
                        </a:spcAft>
                      </a:pPr>
                      <a:r>
                        <a:rPr lang="en-US" sz="1300">
                          <a:solidFill>
                            <a:schemeClr val="tx1"/>
                          </a:solidFill>
                          <a:effectLst/>
                          <a:latin typeface="Times New Roman" panose="02020603050405020304" pitchFamily="18" charset="0"/>
                          <a:cs typeface="Times New Roman" panose="02020603050405020304" pitchFamily="18" charset="0"/>
                        </a:rPr>
                        <a:t>&lt;start_of_turn&gt;</a:t>
                      </a:r>
                      <a:endParaRPr lang="en-US" sz="13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1000"/>
                        </a:spcAft>
                      </a:pPr>
                      <a:r>
                        <a:rPr lang="en-US" sz="1300" dirty="0">
                          <a:solidFill>
                            <a:schemeClr val="tx1"/>
                          </a:solidFill>
                          <a:effectLst/>
                          <a:latin typeface="Times New Roman" panose="02020603050405020304" pitchFamily="18" charset="0"/>
                          <a:cs typeface="Times New Roman" panose="02020603050405020304" pitchFamily="18" charset="0"/>
                        </a:rPr>
                        <a:t>108,0 M (1,17%)</a:t>
                      </a:r>
                      <a:endParaRPr lang="en-US" sz="13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Tree>
    <p:extLst>
      <p:ext uri="{BB962C8B-B14F-4D97-AF65-F5344CB8AC3E}">
        <p14:creationId xmlns:p14="http://schemas.microsoft.com/office/powerpoint/2010/main" val="132897593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1604568241"/>
              </p:ext>
            </p:extLst>
          </p:nvPr>
        </p:nvGraphicFramePr>
        <p:xfrm>
          <a:off x="2308039" y="1701143"/>
          <a:ext cx="8386855" cy="3337021"/>
        </p:xfrm>
        <a:graphic>
          <a:graphicData uri="http://schemas.openxmlformats.org/drawingml/2006/table">
            <a:tbl>
              <a:tblPr firstRow="1" firstCol="1" bandRow="1">
                <a:tableStyleId>{5C22544A-7EE6-4342-B048-85BDC9FD1C3A}</a:tableStyleId>
              </a:tblPr>
              <a:tblGrid>
                <a:gridCol w="2507411"/>
                <a:gridCol w="1469861"/>
                <a:gridCol w="1469861"/>
                <a:gridCol w="1469861"/>
                <a:gridCol w="1469861"/>
              </a:tblGrid>
              <a:tr h="1004821">
                <a:tc>
                  <a:txBody>
                    <a:bodyPr/>
                    <a:lstStyle/>
                    <a:p>
                      <a:pPr algn="ctr">
                        <a:lnSpc>
                          <a:spcPct val="115000"/>
                        </a:lnSpc>
                        <a:spcAft>
                          <a:spcPts val="1000"/>
                        </a:spcAft>
                      </a:pPr>
                      <a:r>
                        <a:rPr lang="en-US" sz="1300" dirty="0" err="1">
                          <a:solidFill>
                            <a:schemeClr val="tx1"/>
                          </a:solidFill>
                          <a:effectLst/>
                          <a:latin typeface="Times New Roman" panose="02020603050405020304" pitchFamily="18" charset="0"/>
                          <a:cs typeface="Times New Roman" panose="02020603050405020304" pitchFamily="18" charset="0"/>
                        </a:rPr>
                        <a:t>Mô</a:t>
                      </a:r>
                      <a:r>
                        <a:rPr lang="en-US" sz="1300" dirty="0">
                          <a:solidFill>
                            <a:schemeClr val="tx1"/>
                          </a:solidFill>
                          <a:effectLst/>
                          <a:latin typeface="Times New Roman" panose="02020603050405020304" pitchFamily="18" charset="0"/>
                          <a:cs typeface="Times New Roman" panose="02020603050405020304" pitchFamily="18" charset="0"/>
                        </a:rPr>
                        <a:t> </a:t>
                      </a:r>
                      <a:r>
                        <a:rPr lang="en-US" sz="1300" dirty="0" err="1">
                          <a:solidFill>
                            <a:schemeClr val="tx1"/>
                          </a:solidFill>
                          <a:effectLst/>
                          <a:latin typeface="Times New Roman" panose="02020603050405020304" pitchFamily="18" charset="0"/>
                          <a:cs typeface="Times New Roman" panose="02020603050405020304" pitchFamily="18" charset="0"/>
                        </a:rPr>
                        <a:t>hình</a:t>
                      </a:r>
                      <a:endParaRPr lang="en-US" sz="13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1000"/>
                        </a:spcAft>
                      </a:pPr>
                      <a:r>
                        <a:rPr lang="en-US" sz="1300">
                          <a:solidFill>
                            <a:schemeClr val="tx1"/>
                          </a:solidFill>
                          <a:effectLst/>
                          <a:latin typeface="Times New Roman" panose="02020603050405020304" pitchFamily="18" charset="0"/>
                          <a:cs typeface="Times New Roman" panose="02020603050405020304" pitchFamily="18" charset="0"/>
                        </a:rPr>
                        <a:t>Thời gian (giờ)</a:t>
                      </a:r>
                      <a:endParaRPr lang="en-US" sz="13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1000"/>
                        </a:spcAft>
                      </a:pPr>
                      <a:r>
                        <a:rPr lang="en-US" sz="1300">
                          <a:solidFill>
                            <a:schemeClr val="tx1"/>
                          </a:solidFill>
                          <a:effectLst/>
                          <a:latin typeface="Times New Roman" panose="02020603050405020304" pitchFamily="18" charset="0"/>
                          <a:cs typeface="Times New Roman" panose="02020603050405020304" pitchFamily="18" charset="0"/>
                        </a:rPr>
                        <a:t>Train loss cuối</a:t>
                      </a:r>
                      <a:endParaRPr lang="en-US" sz="13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1000"/>
                        </a:spcAft>
                      </a:pPr>
                      <a:r>
                        <a:rPr lang="en-US" sz="1300">
                          <a:solidFill>
                            <a:schemeClr val="tx1"/>
                          </a:solidFill>
                          <a:effectLst/>
                          <a:latin typeface="Times New Roman" panose="02020603050405020304" pitchFamily="18" charset="0"/>
                          <a:cs typeface="Times New Roman" panose="02020603050405020304" pitchFamily="18" charset="0"/>
                        </a:rPr>
                        <a:t>Val loss cuối</a:t>
                      </a:r>
                      <a:endParaRPr lang="en-US" sz="13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1000"/>
                        </a:spcAft>
                      </a:pPr>
                      <a:r>
                        <a:rPr lang="en-US" sz="1300">
                          <a:solidFill>
                            <a:schemeClr val="tx1"/>
                          </a:solidFill>
                          <a:effectLst/>
                          <a:latin typeface="Times New Roman" panose="02020603050405020304" pitchFamily="18" charset="0"/>
                          <a:cs typeface="Times New Roman" panose="02020603050405020304" pitchFamily="18" charset="0"/>
                        </a:rPr>
                        <a:t>Gap (overfit)</a:t>
                      </a:r>
                      <a:endParaRPr lang="en-US" sz="13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583050">
                <a:tc>
                  <a:txBody>
                    <a:bodyPr/>
                    <a:lstStyle/>
                    <a:p>
                      <a:pPr algn="ctr">
                        <a:lnSpc>
                          <a:spcPct val="115000"/>
                        </a:lnSpc>
                        <a:spcAft>
                          <a:spcPts val="1000"/>
                        </a:spcAft>
                      </a:pPr>
                      <a:r>
                        <a:rPr lang="en-US" sz="1300">
                          <a:solidFill>
                            <a:schemeClr val="tx1"/>
                          </a:solidFill>
                          <a:effectLst/>
                          <a:latin typeface="Times New Roman" panose="02020603050405020304" pitchFamily="18" charset="0"/>
                          <a:cs typeface="Times New Roman" panose="02020603050405020304" pitchFamily="18" charset="0"/>
                        </a:rPr>
                        <a:t>Qwen2.5-7B-Instruct</a:t>
                      </a:r>
                      <a:endParaRPr lang="en-US" sz="13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1000"/>
                        </a:spcAft>
                      </a:pPr>
                      <a:r>
                        <a:rPr lang="en-US" sz="1300" dirty="0">
                          <a:solidFill>
                            <a:schemeClr val="tx1"/>
                          </a:solidFill>
                          <a:effectLst/>
                          <a:latin typeface="Times New Roman" panose="02020603050405020304" pitchFamily="18" charset="0"/>
                          <a:cs typeface="Times New Roman" panose="02020603050405020304" pitchFamily="18" charset="0"/>
                        </a:rPr>
                        <a:t>2,82</a:t>
                      </a:r>
                      <a:endParaRPr lang="en-US" sz="13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1000"/>
                        </a:spcAft>
                      </a:pPr>
                      <a:r>
                        <a:rPr lang="en-US" sz="1300">
                          <a:solidFill>
                            <a:schemeClr val="tx1"/>
                          </a:solidFill>
                          <a:effectLst/>
                          <a:latin typeface="Times New Roman" panose="02020603050405020304" pitchFamily="18" charset="0"/>
                          <a:cs typeface="Times New Roman" panose="02020603050405020304" pitchFamily="18" charset="0"/>
                        </a:rPr>
                        <a:t>0,4006</a:t>
                      </a:r>
                      <a:endParaRPr lang="en-US" sz="13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1000"/>
                        </a:spcAft>
                      </a:pPr>
                      <a:r>
                        <a:rPr lang="en-US" sz="1300">
                          <a:solidFill>
                            <a:schemeClr val="tx1"/>
                          </a:solidFill>
                          <a:effectLst/>
                          <a:latin typeface="Times New Roman" panose="02020603050405020304" pitchFamily="18" charset="0"/>
                          <a:cs typeface="Times New Roman" panose="02020603050405020304" pitchFamily="18" charset="0"/>
                        </a:rPr>
                        <a:t>0,4821</a:t>
                      </a:r>
                      <a:endParaRPr lang="en-US" sz="13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1000"/>
                        </a:spcAft>
                      </a:pPr>
                      <a:r>
                        <a:rPr lang="en-US" sz="1300">
                          <a:solidFill>
                            <a:schemeClr val="tx1"/>
                          </a:solidFill>
                          <a:effectLst/>
                          <a:latin typeface="Times New Roman" panose="02020603050405020304" pitchFamily="18" charset="0"/>
                          <a:cs typeface="Times New Roman" panose="02020603050405020304" pitchFamily="18" charset="0"/>
                        </a:rPr>
                        <a:t>+0,0815</a:t>
                      </a:r>
                      <a:endParaRPr lang="en-US" sz="13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583050">
                <a:tc>
                  <a:txBody>
                    <a:bodyPr/>
                    <a:lstStyle/>
                    <a:p>
                      <a:pPr algn="ctr">
                        <a:lnSpc>
                          <a:spcPct val="115000"/>
                        </a:lnSpc>
                        <a:spcAft>
                          <a:spcPts val="1000"/>
                        </a:spcAft>
                      </a:pPr>
                      <a:r>
                        <a:rPr lang="en-US" sz="1300">
                          <a:solidFill>
                            <a:schemeClr val="tx1"/>
                          </a:solidFill>
                          <a:effectLst/>
                          <a:latin typeface="Times New Roman" panose="02020603050405020304" pitchFamily="18" charset="0"/>
                          <a:cs typeface="Times New Roman" panose="02020603050405020304" pitchFamily="18" charset="0"/>
                        </a:rPr>
                        <a:t>Llama-3.1-8B-Instruct</a:t>
                      </a:r>
                      <a:endParaRPr lang="en-US" sz="13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1000"/>
                        </a:spcAft>
                      </a:pPr>
                      <a:r>
                        <a:rPr lang="en-US" sz="1300">
                          <a:solidFill>
                            <a:schemeClr val="tx1"/>
                          </a:solidFill>
                          <a:effectLst/>
                          <a:latin typeface="Times New Roman" panose="02020603050405020304" pitchFamily="18" charset="0"/>
                          <a:cs typeface="Times New Roman" panose="02020603050405020304" pitchFamily="18" charset="0"/>
                        </a:rPr>
                        <a:t>2,61</a:t>
                      </a:r>
                      <a:endParaRPr lang="en-US" sz="13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1000"/>
                        </a:spcAft>
                      </a:pPr>
                      <a:r>
                        <a:rPr lang="en-US" sz="1300">
                          <a:solidFill>
                            <a:schemeClr val="tx1"/>
                          </a:solidFill>
                          <a:effectLst/>
                          <a:latin typeface="Times New Roman" panose="02020603050405020304" pitchFamily="18" charset="0"/>
                          <a:cs typeface="Times New Roman" panose="02020603050405020304" pitchFamily="18" charset="0"/>
                        </a:rPr>
                        <a:t>0,3646</a:t>
                      </a:r>
                      <a:endParaRPr lang="en-US" sz="13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1000"/>
                        </a:spcAft>
                      </a:pPr>
                      <a:r>
                        <a:rPr lang="en-US" sz="1300">
                          <a:solidFill>
                            <a:schemeClr val="tx1"/>
                          </a:solidFill>
                          <a:effectLst/>
                          <a:latin typeface="Times New Roman" panose="02020603050405020304" pitchFamily="18" charset="0"/>
                          <a:cs typeface="Times New Roman" panose="02020603050405020304" pitchFamily="18" charset="0"/>
                        </a:rPr>
                        <a:t>0,4701</a:t>
                      </a:r>
                      <a:endParaRPr lang="en-US" sz="13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1000"/>
                        </a:spcAft>
                      </a:pPr>
                      <a:r>
                        <a:rPr lang="en-US" sz="1300">
                          <a:solidFill>
                            <a:schemeClr val="tx1"/>
                          </a:solidFill>
                          <a:effectLst/>
                          <a:latin typeface="Times New Roman" panose="02020603050405020304" pitchFamily="18" charset="0"/>
                          <a:cs typeface="Times New Roman" panose="02020603050405020304" pitchFamily="18" charset="0"/>
                        </a:rPr>
                        <a:t>+0,1036</a:t>
                      </a:r>
                      <a:endParaRPr lang="en-US" sz="13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583050">
                <a:tc>
                  <a:txBody>
                    <a:bodyPr/>
                    <a:lstStyle/>
                    <a:p>
                      <a:pPr algn="ctr">
                        <a:lnSpc>
                          <a:spcPct val="115000"/>
                        </a:lnSpc>
                        <a:spcAft>
                          <a:spcPts val="1000"/>
                        </a:spcAft>
                      </a:pPr>
                      <a:r>
                        <a:rPr lang="en-US" sz="1300">
                          <a:solidFill>
                            <a:schemeClr val="tx1"/>
                          </a:solidFill>
                          <a:effectLst/>
                          <a:latin typeface="Times New Roman" panose="02020603050405020304" pitchFamily="18" charset="0"/>
                          <a:cs typeface="Times New Roman" panose="02020603050405020304" pitchFamily="18" charset="0"/>
                        </a:rPr>
                        <a:t>Mistral-7B-Instruct-v0.3</a:t>
                      </a:r>
                      <a:endParaRPr lang="en-US" sz="13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1000"/>
                        </a:spcAft>
                      </a:pPr>
                      <a:r>
                        <a:rPr lang="en-US" sz="1300">
                          <a:solidFill>
                            <a:schemeClr val="tx1"/>
                          </a:solidFill>
                          <a:effectLst/>
                          <a:latin typeface="Times New Roman" panose="02020603050405020304" pitchFamily="18" charset="0"/>
                          <a:cs typeface="Times New Roman" panose="02020603050405020304" pitchFamily="18" charset="0"/>
                        </a:rPr>
                        <a:t>2,20</a:t>
                      </a:r>
                      <a:endParaRPr lang="en-US" sz="13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1000"/>
                        </a:spcAft>
                      </a:pPr>
                      <a:r>
                        <a:rPr lang="en-US" sz="1300">
                          <a:solidFill>
                            <a:schemeClr val="tx1"/>
                          </a:solidFill>
                          <a:effectLst/>
                          <a:latin typeface="Times New Roman" panose="02020603050405020304" pitchFamily="18" charset="0"/>
                          <a:cs typeface="Times New Roman" panose="02020603050405020304" pitchFamily="18" charset="0"/>
                        </a:rPr>
                        <a:t>0,2709</a:t>
                      </a:r>
                      <a:endParaRPr lang="en-US" sz="13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1000"/>
                        </a:spcAft>
                      </a:pPr>
                      <a:r>
                        <a:rPr lang="en-US" sz="1300">
                          <a:solidFill>
                            <a:schemeClr val="tx1"/>
                          </a:solidFill>
                          <a:effectLst/>
                          <a:latin typeface="Times New Roman" panose="02020603050405020304" pitchFamily="18" charset="0"/>
                          <a:cs typeface="Times New Roman" panose="02020603050405020304" pitchFamily="18" charset="0"/>
                        </a:rPr>
                        <a:t>0,4464</a:t>
                      </a:r>
                      <a:endParaRPr lang="en-US" sz="13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1000"/>
                        </a:spcAft>
                      </a:pPr>
                      <a:r>
                        <a:rPr lang="en-US" sz="1300">
                          <a:solidFill>
                            <a:schemeClr val="tx1"/>
                          </a:solidFill>
                          <a:effectLst/>
                          <a:latin typeface="Times New Roman" panose="02020603050405020304" pitchFamily="18" charset="0"/>
                          <a:cs typeface="Times New Roman" panose="02020603050405020304" pitchFamily="18" charset="0"/>
                        </a:rPr>
                        <a:t>+0,1726</a:t>
                      </a:r>
                      <a:endParaRPr lang="en-US" sz="13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583050">
                <a:tc>
                  <a:txBody>
                    <a:bodyPr/>
                    <a:lstStyle/>
                    <a:p>
                      <a:pPr algn="ctr">
                        <a:lnSpc>
                          <a:spcPct val="115000"/>
                        </a:lnSpc>
                        <a:spcAft>
                          <a:spcPts val="1000"/>
                        </a:spcAft>
                      </a:pPr>
                      <a:r>
                        <a:rPr lang="en-US" sz="1300" dirty="0">
                          <a:solidFill>
                            <a:schemeClr val="tx1"/>
                          </a:solidFill>
                          <a:effectLst/>
                          <a:latin typeface="Times New Roman" panose="02020603050405020304" pitchFamily="18" charset="0"/>
                          <a:cs typeface="Times New Roman" panose="02020603050405020304" pitchFamily="18" charset="0"/>
                        </a:rPr>
                        <a:t>Gemma2-9B-it</a:t>
                      </a:r>
                      <a:endParaRPr lang="en-US" sz="13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1000"/>
                        </a:spcAft>
                      </a:pPr>
                      <a:r>
                        <a:rPr lang="en-US" sz="1300" dirty="0">
                          <a:solidFill>
                            <a:schemeClr val="tx1"/>
                          </a:solidFill>
                          <a:effectLst/>
                          <a:latin typeface="Times New Roman" panose="02020603050405020304" pitchFamily="18" charset="0"/>
                          <a:cs typeface="Times New Roman" panose="02020603050405020304" pitchFamily="18" charset="0"/>
                        </a:rPr>
                        <a:t>4,26</a:t>
                      </a:r>
                      <a:endParaRPr lang="en-US" sz="13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1000"/>
                        </a:spcAft>
                      </a:pPr>
                      <a:r>
                        <a:rPr lang="en-US" sz="1300" dirty="0">
                          <a:solidFill>
                            <a:schemeClr val="tx1"/>
                          </a:solidFill>
                          <a:effectLst/>
                          <a:latin typeface="Times New Roman" panose="02020603050405020304" pitchFamily="18" charset="0"/>
                          <a:cs typeface="Times New Roman" panose="02020603050405020304" pitchFamily="18" charset="0"/>
                        </a:rPr>
                        <a:t>0,2958</a:t>
                      </a:r>
                      <a:endParaRPr lang="en-US" sz="13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1000"/>
                        </a:spcAft>
                      </a:pPr>
                      <a:r>
                        <a:rPr lang="en-US" sz="1300">
                          <a:solidFill>
                            <a:schemeClr val="tx1"/>
                          </a:solidFill>
                          <a:effectLst/>
                          <a:latin typeface="Times New Roman" panose="02020603050405020304" pitchFamily="18" charset="0"/>
                          <a:cs typeface="Times New Roman" panose="02020603050405020304" pitchFamily="18" charset="0"/>
                        </a:rPr>
                        <a:t>0,4611</a:t>
                      </a:r>
                      <a:endParaRPr lang="en-US" sz="13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15000"/>
                        </a:lnSpc>
                        <a:spcAft>
                          <a:spcPts val="1000"/>
                        </a:spcAft>
                      </a:pPr>
                      <a:r>
                        <a:rPr lang="en-US" sz="1300" dirty="0">
                          <a:solidFill>
                            <a:schemeClr val="tx1"/>
                          </a:solidFill>
                          <a:effectLst/>
                          <a:latin typeface="Times New Roman" panose="02020603050405020304" pitchFamily="18" charset="0"/>
                          <a:cs typeface="Times New Roman" panose="02020603050405020304" pitchFamily="18" charset="0"/>
                        </a:rPr>
                        <a:t>+0,1593</a:t>
                      </a:r>
                      <a:endParaRPr lang="en-US" sz="13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5" name="Rectangle 1"/>
          <p:cNvSpPr>
            <a:spLocks noChangeArrowheads="1"/>
          </p:cNvSpPr>
          <p:nvPr/>
        </p:nvSpPr>
        <p:spPr bwMode="auto">
          <a:xfrm>
            <a:off x="3016250" y="30638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306322229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436267153"/>
              </p:ext>
            </p:extLst>
          </p:nvPr>
        </p:nvGraphicFramePr>
        <p:xfrm>
          <a:off x="1118895" y="325675"/>
          <a:ext cx="9431210" cy="4609812"/>
        </p:xfrm>
        <a:graphic>
          <a:graphicData uri="http://schemas.openxmlformats.org/drawingml/2006/table">
            <a:tbl>
              <a:tblPr/>
              <a:tblGrid>
                <a:gridCol w="4715605"/>
                <a:gridCol w="4715605"/>
              </a:tblGrid>
              <a:tr h="212070">
                <a:tc>
                  <a:txBody>
                    <a:bodyPr/>
                    <a:lstStyle/>
                    <a:p>
                      <a:pPr algn="ctr"/>
                      <a:r>
                        <a:rPr lang="en-US" sz="1500" b="1" dirty="0" err="1">
                          <a:latin typeface="Times New Roman" panose="02020603050405020304" pitchFamily="18" charset="0"/>
                          <a:cs typeface="Times New Roman" panose="02020603050405020304" pitchFamily="18" charset="0"/>
                        </a:rPr>
                        <a:t>Tên</a:t>
                      </a:r>
                      <a:r>
                        <a:rPr lang="en-US" sz="1500" b="1" dirty="0">
                          <a:latin typeface="Times New Roman" panose="02020603050405020304" pitchFamily="18" charset="0"/>
                          <a:cs typeface="Times New Roman" panose="02020603050405020304" pitchFamily="18" charset="0"/>
                        </a:rPr>
                        <a:t> </a:t>
                      </a:r>
                      <a:r>
                        <a:rPr lang="en-US" sz="1500" b="1" dirty="0" err="1">
                          <a:latin typeface="Times New Roman" panose="02020603050405020304" pitchFamily="18" charset="0"/>
                          <a:cs typeface="Times New Roman" panose="02020603050405020304" pitchFamily="18" charset="0"/>
                        </a:rPr>
                        <a:t>đánh</a:t>
                      </a:r>
                      <a:r>
                        <a:rPr lang="en-US" sz="1500" b="1" dirty="0">
                          <a:latin typeface="Times New Roman" panose="02020603050405020304" pitchFamily="18" charset="0"/>
                          <a:cs typeface="Times New Roman" panose="02020603050405020304" pitchFamily="18" charset="0"/>
                        </a:rPr>
                        <a:t> </a:t>
                      </a:r>
                      <a:r>
                        <a:rPr lang="en-US" sz="1500" b="1" dirty="0" err="1">
                          <a:latin typeface="Times New Roman" panose="02020603050405020304" pitchFamily="18" charset="0"/>
                          <a:cs typeface="Times New Roman" panose="02020603050405020304" pitchFamily="18" charset="0"/>
                        </a:rPr>
                        <a:t>giá</a:t>
                      </a:r>
                      <a:endParaRPr lang="en-US" sz="1500" b="1" dirty="0">
                        <a:latin typeface="Times New Roman" panose="02020603050405020304" pitchFamily="18" charset="0"/>
                        <a:cs typeface="Times New Roman" panose="02020603050405020304" pitchFamily="18" charset="0"/>
                      </a:endParaRPr>
                    </a:p>
                  </a:txBody>
                  <a:tcPr marL="44401" marR="44401" marT="22201" marB="222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b="1" dirty="0" err="1">
                          <a:latin typeface="Times New Roman" panose="02020603050405020304" pitchFamily="18" charset="0"/>
                          <a:cs typeface="Times New Roman" panose="02020603050405020304" pitchFamily="18" charset="0"/>
                        </a:rPr>
                        <a:t>Vai</a:t>
                      </a:r>
                      <a:r>
                        <a:rPr lang="en-US" sz="1500" b="1" dirty="0">
                          <a:latin typeface="Times New Roman" panose="02020603050405020304" pitchFamily="18" charset="0"/>
                          <a:cs typeface="Times New Roman" panose="02020603050405020304" pitchFamily="18" charset="0"/>
                        </a:rPr>
                        <a:t> </a:t>
                      </a:r>
                      <a:r>
                        <a:rPr lang="en-US" sz="1500" b="1" dirty="0" err="1">
                          <a:latin typeface="Times New Roman" panose="02020603050405020304" pitchFamily="18" charset="0"/>
                          <a:cs typeface="Times New Roman" panose="02020603050405020304" pitchFamily="18" charset="0"/>
                        </a:rPr>
                        <a:t>trò</a:t>
                      </a:r>
                      <a:r>
                        <a:rPr lang="en-US" sz="1500" b="1" dirty="0">
                          <a:latin typeface="Times New Roman" panose="02020603050405020304" pitchFamily="18" charset="0"/>
                          <a:cs typeface="Times New Roman" panose="02020603050405020304" pitchFamily="18" charset="0"/>
                        </a:rPr>
                        <a:t> </a:t>
                      </a:r>
                      <a:r>
                        <a:rPr lang="en-US" sz="1500" b="1" dirty="0" err="1">
                          <a:latin typeface="Times New Roman" panose="02020603050405020304" pitchFamily="18" charset="0"/>
                          <a:cs typeface="Times New Roman" panose="02020603050405020304" pitchFamily="18" charset="0"/>
                        </a:rPr>
                        <a:t>của</a:t>
                      </a:r>
                      <a:r>
                        <a:rPr lang="en-US" sz="1500" b="1" dirty="0">
                          <a:latin typeface="Times New Roman" panose="02020603050405020304" pitchFamily="18" charset="0"/>
                          <a:cs typeface="Times New Roman" panose="02020603050405020304" pitchFamily="18" charset="0"/>
                        </a:rPr>
                        <a:t> </a:t>
                      </a:r>
                      <a:r>
                        <a:rPr lang="en-US" sz="1500" b="1" dirty="0" err="1">
                          <a:latin typeface="Times New Roman" panose="02020603050405020304" pitchFamily="18" charset="0"/>
                          <a:cs typeface="Times New Roman" panose="02020603050405020304" pitchFamily="18" charset="0"/>
                        </a:rPr>
                        <a:t>đánh</a:t>
                      </a:r>
                      <a:r>
                        <a:rPr lang="en-US" sz="1500" b="1" dirty="0">
                          <a:latin typeface="Times New Roman" panose="02020603050405020304" pitchFamily="18" charset="0"/>
                          <a:cs typeface="Times New Roman" panose="02020603050405020304" pitchFamily="18" charset="0"/>
                        </a:rPr>
                        <a:t> </a:t>
                      </a:r>
                      <a:r>
                        <a:rPr lang="en-US" sz="1500" b="1" dirty="0" err="1">
                          <a:latin typeface="Times New Roman" panose="02020603050405020304" pitchFamily="18" charset="0"/>
                          <a:cs typeface="Times New Roman" panose="02020603050405020304" pitchFamily="18" charset="0"/>
                        </a:rPr>
                        <a:t>giá</a:t>
                      </a:r>
                      <a:endParaRPr lang="en-US" sz="1500" b="1" dirty="0">
                        <a:latin typeface="Times New Roman" panose="02020603050405020304" pitchFamily="18" charset="0"/>
                        <a:cs typeface="Times New Roman" panose="02020603050405020304" pitchFamily="18" charset="0"/>
                      </a:endParaRPr>
                    </a:p>
                  </a:txBody>
                  <a:tcPr marL="44401" marR="44401" marT="22201" marB="222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852897">
                <a:tc>
                  <a:txBody>
                    <a:bodyPr/>
                    <a:lstStyle/>
                    <a:p>
                      <a:r>
                        <a:rPr lang="fr-FR" sz="1500" b="1" dirty="0" err="1">
                          <a:latin typeface="Times New Roman" panose="02020603050405020304" pitchFamily="18" charset="0"/>
                          <a:cs typeface="Times New Roman" panose="02020603050405020304" pitchFamily="18" charset="0"/>
                        </a:rPr>
                        <a:t>Tier</a:t>
                      </a:r>
                      <a:r>
                        <a:rPr lang="fr-FR" sz="1500" b="1" dirty="0">
                          <a:latin typeface="Times New Roman" panose="02020603050405020304" pitchFamily="18" charset="0"/>
                          <a:cs typeface="Times New Roman" panose="02020603050405020304" pitchFamily="18" charset="0"/>
                        </a:rPr>
                        <a:t> </a:t>
                      </a:r>
                      <a:r>
                        <a:rPr lang="fr-FR" sz="1500" b="1" dirty="0" smtClean="0">
                          <a:latin typeface="Times New Roman" panose="02020603050405020304" pitchFamily="18" charset="0"/>
                          <a:cs typeface="Times New Roman" panose="02020603050405020304" pitchFamily="18" charset="0"/>
                        </a:rPr>
                        <a:t>1 </a:t>
                      </a:r>
                      <a:r>
                        <a:rPr lang="fr-FR" sz="1500" b="1" dirty="0">
                          <a:latin typeface="Times New Roman" panose="02020603050405020304" pitchFamily="18" charset="0"/>
                          <a:cs typeface="Times New Roman" panose="02020603050405020304" pitchFamily="18" charset="0"/>
                        </a:rPr>
                        <a:t>— Format &amp; Technique </a:t>
                      </a:r>
                      <a:r>
                        <a:rPr lang="fr-FR" sz="1500" b="1" dirty="0" err="1">
                          <a:latin typeface="Times New Roman" panose="02020603050405020304" pitchFamily="18" charset="0"/>
                          <a:cs typeface="Times New Roman" panose="02020603050405020304" pitchFamily="18" charset="0"/>
                        </a:rPr>
                        <a:t>Diversity</a:t>
                      </a:r>
                      <a:endParaRPr lang="fr-FR" sz="1500" dirty="0">
                        <a:latin typeface="Times New Roman" panose="02020603050405020304" pitchFamily="18" charset="0"/>
                        <a:cs typeface="Times New Roman" panose="02020603050405020304" pitchFamily="18" charset="0"/>
                      </a:endParaRPr>
                    </a:p>
                  </a:txBody>
                  <a:tcPr marL="44401" marR="44401" marT="22201" marB="222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sz="1500">
                          <a:latin typeface="Times New Roman" panose="02020603050405020304" pitchFamily="18" charset="0"/>
                          <a:cs typeface="Times New Roman" panose="02020603050405020304" pitchFamily="18" charset="0"/>
                        </a:rPr>
                        <a:t>Kiểm tra model có tuân thủ đúng định dạng 4 trường bắt buộc (Technique, Rationale, Plan, Response) hay không; đồng thời đo độ đa dạng kỹ thuật CBT để phát hiện hiện tượng mode collapse (model chỉ dùng vài kỹ thuật lặp lại).</a:t>
                      </a:r>
                    </a:p>
                  </a:txBody>
                  <a:tcPr marL="44401" marR="44401" marT="22201" marB="222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852897">
                <a:tc>
                  <a:txBody>
                    <a:bodyPr/>
                    <a:lstStyle/>
                    <a:p>
                      <a:r>
                        <a:rPr lang="en-US" sz="1500" b="1" dirty="0">
                          <a:latin typeface="Times New Roman" panose="02020603050405020304" pitchFamily="18" charset="0"/>
                          <a:cs typeface="Times New Roman" panose="02020603050405020304" pitchFamily="18" charset="0"/>
                        </a:rPr>
                        <a:t>Tier </a:t>
                      </a:r>
                      <a:r>
                        <a:rPr lang="en-US" sz="1500" b="1" dirty="0" smtClean="0">
                          <a:latin typeface="Times New Roman" panose="02020603050405020304" pitchFamily="18" charset="0"/>
                          <a:cs typeface="Times New Roman" panose="02020603050405020304" pitchFamily="18" charset="0"/>
                        </a:rPr>
                        <a:t>2 </a:t>
                      </a:r>
                      <a:r>
                        <a:rPr lang="en-US" sz="1500" b="1" dirty="0">
                          <a:latin typeface="Times New Roman" panose="02020603050405020304" pitchFamily="18" charset="0"/>
                          <a:cs typeface="Times New Roman" panose="02020603050405020304" pitchFamily="18" charset="0"/>
                        </a:rPr>
                        <a:t>— CTRS Judge (LLM-as-Judge)</a:t>
                      </a:r>
                      <a:endParaRPr lang="en-US" sz="1500" dirty="0">
                        <a:latin typeface="Times New Roman" panose="02020603050405020304" pitchFamily="18" charset="0"/>
                        <a:cs typeface="Times New Roman" panose="02020603050405020304" pitchFamily="18" charset="0"/>
                      </a:endParaRPr>
                    </a:p>
                  </a:txBody>
                  <a:tcPr marL="44401" marR="44401" marT="22201" marB="222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sz="1500" dirty="0">
                          <a:latin typeface="Times New Roman" panose="02020603050405020304" pitchFamily="18" charset="0"/>
                          <a:cs typeface="Times New Roman" panose="02020603050405020304" pitchFamily="18" charset="0"/>
                        </a:rPr>
                        <a:t>Đánh giá chất lượng trị liệu CBT bằng rubric CTRS với các tiêu chí: Empathy, Collaboration, Guided Discovery, Technique Fidelity và CBT Adherence. Dùng để đo mức “giống therapist CBT thật”.</a:t>
                      </a:r>
                    </a:p>
                  </a:txBody>
                  <a:tcPr marL="44401" marR="44401" marT="22201" marB="222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852897">
                <a:tc>
                  <a:txBody>
                    <a:bodyPr/>
                    <a:lstStyle/>
                    <a:p>
                      <a:r>
                        <a:rPr lang="it-IT" sz="1500" b="1" dirty="0">
                          <a:latin typeface="Times New Roman" panose="02020603050405020304" pitchFamily="18" charset="0"/>
                          <a:cs typeface="Times New Roman" panose="02020603050405020304" pitchFamily="18" charset="0"/>
                        </a:rPr>
                        <a:t>Tier </a:t>
                      </a:r>
                      <a:r>
                        <a:rPr lang="it-IT" sz="1500" b="1" dirty="0" smtClean="0">
                          <a:latin typeface="Times New Roman" panose="02020603050405020304" pitchFamily="18" charset="0"/>
                          <a:cs typeface="Times New Roman" panose="02020603050405020304" pitchFamily="18" charset="0"/>
                        </a:rPr>
                        <a:t>3 </a:t>
                      </a:r>
                      <a:r>
                        <a:rPr lang="it-IT" sz="1500" b="1" dirty="0">
                          <a:latin typeface="Times New Roman" panose="02020603050405020304" pitchFamily="18" charset="0"/>
                          <a:cs typeface="Times New Roman" panose="02020603050405020304" pitchFamily="18" charset="0"/>
                        </a:rPr>
                        <a:t>— RAGAS (RAG Quality)</a:t>
                      </a:r>
                      <a:endParaRPr lang="it-IT" sz="1500" dirty="0">
                        <a:latin typeface="Times New Roman" panose="02020603050405020304" pitchFamily="18" charset="0"/>
                        <a:cs typeface="Times New Roman" panose="02020603050405020304" pitchFamily="18" charset="0"/>
                      </a:endParaRPr>
                    </a:p>
                  </a:txBody>
                  <a:tcPr marL="44401" marR="44401" marT="22201" marB="222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sz="1500" dirty="0">
                          <a:latin typeface="Times New Roman" panose="02020603050405020304" pitchFamily="18" charset="0"/>
                          <a:cs typeface="Times New Roman" panose="02020603050405020304" pitchFamily="18" charset="0"/>
                        </a:rPr>
                        <a:t>Đánh giá chất lượng hệ thống RAG: phản hồi có trung thực với context không (Faithfulness), có liên quan tới câu hỏi không (Answer Relevancy), và context truy xuất có chính xác không (Context Precision).</a:t>
                      </a:r>
                    </a:p>
                  </a:txBody>
                  <a:tcPr marL="44401" marR="44401" marT="22201" marB="222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32484">
                <a:tc>
                  <a:txBody>
                    <a:bodyPr/>
                    <a:lstStyle/>
                    <a:p>
                      <a:r>
                        <a:rPr lang="en-US" sz="1500" b="1" dirty="0" smtClean="0">
                          <a:latin typeface="Times New Roman" panose="02020603050405020304" pitchFamily="18" charset="0"/>
                          <a:cs typeface="Times New Roman" panose="02020603050405020304" pitchFamily="18" charset="0"/>
                        </a:rPr>
                        <a:t>Tier 6 </a:t>
                      </a:r>
                      <a:r>
                        <a:rPr lang="en-US" sz="1500" b="1" dirty="0">
                          <a:latin typeface="Times New Roman" panose="02020603050405020304" pitchFamily="18" charset="0"/>
                          <a:cs typeface="Times New Roman" panose="02020603050405020304" pitchFamily="18" charset="0"/>
                        </a:rPr>
                        <a:t>— Per-Technique Error Analysis</a:t>
                      </a:r>
                      <a:endParaRPr lang="en-US" sz="1500" dirty="0">
                        <a:latin typeface="Times New Roman" panose="02020603050405020304" pitchFamily="18" charset="0"/>
                        <a:cs typeface="Times New Roman" panose="02020603050405020304" pitchFamily="18" charset="0"/>
                      </a:endParaRPr>
                    </a:p>
                  </a:txBody>
                  <a:tcPr marL="44401" marR="44401" marT="22201" marB="222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err="1">
                          <a:latin typeface="Times New Roman" panose="02020603050405020304" pitchFamily="18" charset="0"/>
                          <a:cs typeface="Times New Roman" panose="02020603050405020304" pitchFamily="18" charset="0"/>
                        </a:rPr>
                        <a:t>Phân</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tích</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lỗi</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theo</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từng</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kỹ</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thuật</a:t>
                      </a:r>
                      <a:r>
                        <a:rPr lang="en-US" sz="1500" dirty="0">
                          <a:latin typeface="Times New Roman" panose="02020603050405020304" pitchFamily="18" charset="0"/>
                          <a:cs typeface="Times New Roman" panose="02020603050405020304" pitchFamily="18" charset="0"/>
                        </a:rPr>
                        <a:t> CBT </a:t>
                      </a:r>
                      <a:r>
                        <a:rPr lang="en-US" sz="1500" dirty="0" err="1">
                          <a:latin typeface="Times New Roman" panose="02020603050405020304" pitchFamily="18" charset="0"/>
                          <a:cs typeface="Times New Roman" panose="02020603050405020304" pitchFamily="18" charset="0"/>
                        </a:rPr>
                        <a:t>để</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biết</a:t>
                      </a:r>
                      <a:r>
                        <a:rPr lang="en-US" sz="1500" dirty="0">
                          <a:latin typeface="Times New Roman" panose="02020603050405020304" pitchFamily="18" charset="0"/>
                          <a:cs typeface="Times New Roman" panose="02020603050405020304" pitchFamily="18" charset="0"/>
                        </a:rPr>
                        <a:t> model </a:t>
                      </a:r>
                      <a:r>
                        <a:rPr lang="en-US" sz="1500" dirty="0" err="1">
                          <a:latin typeface="Times New Roman" panose="02020603050405020304" pitchFamily="18" charset="0"/>
                          <a:cs typeface="Times New Roman" panose="02020603050405020304" pitchFamily="18" charset="0"/>
                        </a:rPr>
                        <a:t>yếu</a:t>
                      </a:r>
                      <a:r>
                        <a:rPr lang="en-US" sz="1500" dirty="0">
                          <a:latin typeface="Times New Roman" panose="02020603050405020304" pitchFamily="18" charset="0"/>
                          <a:cs typeface="Times New Roman" panose="02020603050405020304" pitchFamily="18" charset="0"/>
                        </a:rPr>
                        <a:t> ở </a:t>
                      </a:r>
                      <a:r>
                        <a:rPr lang="en-US" sz="1500" dirty="0" err="1">
                          <a:latin typeface="Times New Roman" panose="02020603050405020304" pitchFamily="18" charset="0"/>
                          <a:cs typeface="Times New Roman" panose="02020603050405020304" pitchFamily="18" charset="0"/>
                        </a:rPr>
                        <a:t>kỹ</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thuật</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nào</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ví</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dụ</a:t>
                      </a:r>
                      <a:r>
                        <a:rPr lang="en-US" sz="1500" dirty="0">
                          <a:latin typeface="Times New Roman" panose="02020603050405020304" pitchFamily="18" charset="0"/>
                          <a:cs typeface="Times New Roman" panose="02020603050405020304" pitchFamily="18" charset="0"/>
                        </a:rPr>
                        <a:t>: cognitive restructuring, behavioral experiment…).</a:t>
                      </a:r>
                    </a:p>
                  </a:txBody>
                  <a:tcPr marL="44401" marR="44401" marT="22201" marB="222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32484">
                <a:tc>
                  <a:txBody>
                    <a:bodyPr/>
                    <a:lstStyle/>
                    <a:p>
                      <a:r>
                        <a:rPr lang="en-US" sz="1500" b="1" dirty="0">
                          <a:latin typeface="Times New Roman" panose="02020603050405020304" pitchFamily="18" charset="0"/>
                          <a:cs typeface="Times New Roman" panose="02020603050405020304" pitchFamily="18" charset="0"/>
                        </a:rPr>
                        <a:t>Phase </a:t>
                      </a:r>
                      <a:r>
                        <a:rPr lang="en-US" sz="1500" b="1" dirty="0" smtClean="0">
                          <a:latin typeface="Times New Roman" panose="02020603050405020304" pitchFamily="18" charset="0"/>
                          <a:cs typeface="Times New Roman" panose="02020603050405020304" pitchFamily="18" charset="0"/>
                        </a:rPr>
                        <a:t>7 </a:t>
                      </a:r>
                      <a:r>
                        <a:rPr lang="en-US" sz="1500" b="1" dirty="0">
                          <a:latin typeface="Times New Roman" panose="02020603050405020304" pitchFamily="18" charset="0"/>
                          <a:cs typeface="Times New Roman" panose="02020603050405020304" pitchFamily="18" charset="0"/>
                        </a:rPr>
                        <a:t>— ECE + Temperature Calibration</a:t>
                      </a:r>
                      <a:endParaRPr lang="en-US" sz="1500" dirty="0">
                        <a:latin typeface="Times New Roman" panose="02020603050405020304" pitchFamily="18" charset="0"/>
                        <a:cs typeface="Times New Roman" panose="02020603050405020304" pitchFamily="18" charset="0"/>
                      </a:endParaRPr>
                    </a:p>
                  </a:txBody>
                  <a:tcPr marL="44401" marR="44401" marT="22201" marB="222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sz="1500" dirty="0">
                          <a:latin typeface="Times New Roman" panose="02020603050405020304" pitchFamily="18" charset="0"/>
                          <a:cs typeface="Times New Roman" panose="02020603050405020304" pitchFamily="18" charset="0"/>
                        </a:rPr>
                        <a:t>Đo độ hiệu chỉnh xác suất (Expected Calibration Error) và tối ưu temperature để confidence score đáng tin cậy hơn khi triển khai production.</a:t>
                      </a:r>
                    </a:p>
                  </a:txBody>
                  <a:tcPr marL="44401" marR="44401" marT="22201" marB="222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92552353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4057723284"/>
              </p:ext>
            </p:extLst>
          </p:nvPr>
        </p:nvGraphicFramePr>
        <p:xfrm>
          <a:off x="950343" y="1145088"/>
          <a:ext cx="10515600" cy="2468880"/>
        </p:xfrm>
        <a:graphic>
          <a:graphicData uri="http://schemas.openxmlformats.org/drawingml/2006/table">
            <a:tbl>
              <a:tblPr/>
              <a:tblGrid>
                <a:gridCol w="5257800"/>
                <a:gridCol w="5257800"/>
              </a:tblGrid>
              <a:tr h="0">
                <a:tc>
                  <a:txBody>
                    <a:bodyPr/>
                    <a:lstStyle/>
                    <a:p>
                      <a:pPr algn="ctr"/>
                      <a:r>
                        <a:rPr lang="en-US" b="1" dirty="0" err="1">
                          <a:latin typeface="Times New Roman" panose="02020603050405020304" pitchFamily="18" charset="0"/>
                          <a:cs typeface="Times New Roman" panose="02020603050405020304" pitchFamily="18" charset="0"/>
                        </a:rPr>
                        <a:t>Tên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đánh</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giá</a:t>
                      </a:r>
                      <a:endParaRPr 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err="1">
                          <a:latin typeface="Times New Roman" panose="02020603050405020304" pitchFamily="18" charset="0"/>
                          <a:cs typeface="Times New Roman" panose="02020603050405020304" pitchFamily="18" charset="0"/>
                        </a:rPr>
                        <a:t>Vai</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trò</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của</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đánh</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giá</a:t>
                      </a:r>
                      <a:endParaRPr 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US" b="1" dirty="0">
                          <a:latin typeface="Times New Roman" panose="02020603050405020304" pitchFamily="18" charset="0"/>
                          <a:cs typeface="Times New Roman" panose="02020603050405020304" pitchFamily="18" charset="0"/>
                        </a:rPr>
                        <a:t>Tier 4 — Crisis Red-Team</a:t>
                      </a:r>
                      <a:endParaRPr 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a:latin typeface="Times New Roman" panose="02020603050405020304" pitchFamily="18" charset="0"/>
                          <a:cs typeface="Times New Roman" panose="02020603050405020304" pitchFamily="18" charset="0"/>
                        </a:rPr>
                        <a:t>Kiểm tra khả năng xử lý tình huống khủng hoảng (tự tử, tự hại, lạm dụng, loạn thần…). Đo khả năng nhận diện nguy cơ, giới thiệu trợ giúp khẩn cấp, tránh gây hại và giữ đúng phạm vi của AI.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US" b="1">
                          <a:latin typeface="Times New Roman" panose="02020603050405020304" pitchFamily="18" charset="0"/>
                          <a:cs typeface="Times New Roman" panose="02020603050405020304" pitchFamily="18" charset="0"/>
                        </a:rPr>
                        <a:t>Tier 5 — General Safety</a:t>
                      </a:r>
                      <a:endParaRPr lang="en-US">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err="1">
                          <a:latin typeface="Times New Roman" panose="02020603050405020304" pitchFamily="18" charset="0"/>
                          <a:cs typeface="Times New Roman" panose="02020603050405020304" pitchFamily="18" charset="0"/>
                        </a:rPr>
                        <a:t>Đánh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giá</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mức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độ</a:t>
                      </a:r>
                      <a:r>
                        <a:rPr lang="en-US" dirty="0">
                          <a:latin typeface="Times New Roman" panose="02020603050405020304" pitchFamily="18" charset="0"/>
                          <a:cs typeface="Times New Roman" panose="02020603050405020304" pitchFamily="18" charset="0"/>
                        </a:rPr>
                        <a:t> an </a:t>
                      </a:r>
                      <a:r>
                        <a:rPr lang="en-US" dirty="0" err="1">
                          <a:latin typeface="Times New Roman" panose="02020603050405020304" pitchFamily="18" charset="0"/>
                          <a:cs typeface="Times New Roman" panose="02020603050405020304" pitchFamily="18" charset="0"/>
                        </a:rPr>
                        <a:t>toàn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tổng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quát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của</a:t>
                      </a:r>
                      <a:r>
                        <a:rPr lang="en-US" dirty="0">
                          <a:latin typeface="Times New Roman" panose="02020603050405020304" pitchFamily="18" charset="0"/>
                          <a:cs typeface="Times New Roman" panose="02020603050405020304" pitchFamily="18" charset="0"/>
                        </a:rPr>
                        <a:t> model </a:t>
                      </a:r>
                      <a:r>
                        <a:rPr lang="en-US" dirty="0" err="1">
                          <a:latin typeface="Times New Roman" panose="02020603050405020304" pitchFamily="18" charset="0"/>
                          <a:cs typeface="Times New Roman" panose="02020603050405020304" pitchFamily="18" charset="0"/>
                        </a:rPr>
                        <a:t>ngoài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ngữ</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cảnh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khủng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hoảng</a:t>
                      </a:r>
                      <a:r>
                        <a:rPr lang="en-US" dirty="0">
                          <a:latin typeface="Times New Roman" panose="02020603050405020304" pitchFamily="18" charset="0"/>
                          <a:cs typeface="Times New Roman" panose="02020603050405020304" pitchFamily="18" charset="0"/>
                        </a:rPr>
                        <a:t>: harmlessness, factual accuracy, boundary clarity, cultural sensitivity…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95444142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p:cNvGraphicFramePr>
            <a:graphicFrameLocks noGrp="1"/>
          </p:cNvGraphicFramePr>
          <p:nvPr>
            <p:extLst>
              <p:ext uri="{D42A27DB-BD31-4B8C-83A1-F6EECF244321}">
                <p14:modId xmlns:p14="http://schemas.microsoft.com/office/powerpoint/2010/main" val="3563314949"/>
              </p:ext>
            </p:extLst>
          </p:nvPr>
        </p:nvGraphicFramePr>
        <p:xfrm>
          <a:off x="3075616" y="1033911"/>
          <a:ext cx="5937250" cy="988380"/>
        </p:xfrm>
        <a:graphic>
          <a:graphicData uri="http://schemas.openxmlformats.org/drawingml/2006/table">
            <a:tbl>
              <a:tblPr firstRow="1" firstCol="1" bandRow="1">
                <a:tableStyleId>{5C22544A-7EE6-4342-B048-85BDC9FD1C3A}</a:tableStyleId>
              </a:tblPr>
              <a:tblGrid>
                <a:gridCol w="1187450"/>
                <a:gridCol w="1187450"/>
                <a:gridCol w="1187450"/>
                <a:gridCol w="1187450"/>
                <a:gridCol w="1187450"/>
              </a:tblGrid>
              <a:tr h="0">
                <a:tc>
                  <a:txBody>
                    <a:bodyPr/>
                    <a:lstStyle/>
                    <a:p>
                      <a:pPr algn="ctr">
                        <a:lnSpc>
                          <a:spcPct val="107000"/>
                        </a:lnSpc>
                        <a:spcAft>
                          <a:spcPts val="0"/>
                        </a:spcAft>
                      </a:pPr>
                      <a:r>
                        <a:rPr lang="en-US" sz="1300" dirty="0">
                          <a:solidFill>
                            <a:schemeClr val="tx1"/>
                          </a:solidFill>
                          <a:effectLst/>
                          <a:latin typeface="Times New Roman" panose="02020603050405020304" pitchFamily="18" charset="0"/>
                          <a:cs typeface="Times New Roman" panose="02020603050405020304" pitchFamily="18" charset="0"/>
                        </a:rPr>
                        <a:t>Model</a:t>
                      </a:r>
                      <a:endParaRPr lang="en-US" sz="13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Top1 Acc</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ECE (before)</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ECE (after)</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T_calib</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0">
                <a:tc>
                  <a:txBody>
                    <a:bodyPr/>
                    <a:lstStyle/>
                    <a:p>
                      <a:pPr algn="l">
                        <a:lnSpc>
                          <a:spcPct val="107000"/>
                        </a:lnSpc>
                        <a:spcAft>
                          <a:spcPts val="0"/>
                        </a:spcAft>
                      </a:pPr>
                      <a:r>
                        <a:rPr lang="en-US" sz="1300" dirty="0">
                          <a:solidFill>
                            <a:schemeClr val="tx1"/>
                          </a:solidFill>
                          <a:effectLst/>
                          <a:latin typeface="Times New Roman" panose="02020603050405020304" pitchFamily="18" charset="0"/>
                          <a:cs typeface="Times New Roman" panose="02020603050405020304" pitchFamily="18" charset="0"/>
                        </a:rPr>
                        <a:t>qwen2.5-7b</a:t>
                      </a:r>
                      <a:endParaRPr lang="en-US" sz="13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0.28</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0.5017</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0.0230</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5.5</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0">
                <a:tc>
                  <a:txBody>
                    <a:bodyPr/>
                    <a:lstStyle/>
                    <a:p>
                      <a:pPr algn="l">
                        <a:lnSpc>
                          <a:spcPct val="107000"/>
                        </a:lnSpc>
                        <a:spcAft>
                          <a:spcPts val="0"/>
                        </a:spcAft>
                      </a:pPr>
                      <a:r>
                        <a:rPr lang="en-US" sz="1300" dirty="0">
                          <a:solidFill>
                            <a:schemeClr val="tx1"/>
                          </a:solidFill>
                          <a:effectLst/>
                          <a:latin typeface="Times New Roman" panose="02020603050405020304" pitchFamily="18" charset="0"/>
                          <a:cs typeface="Times New Roman" panose="02020603050405020304" pitchFamily="18" charset="0"/>
                        </a:rPr>
                        <a:t>gemma2-9b</a:t>
                      </a:r>
                      <a:endParaRPr lang="en-US" sz="13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dirty="0">
                          <a:solidFill>
                            <a:schemeClr val="tx1"/>
                          </a:solidFill>
                          <a:effectLst/>
                          <a:latin typeface="Times New Roman" panose="02020603050405020304" pitchFamily="18" charset="0"/>
                          <a:cs typeface="Times New Roman" panose="02020603050405020304" pitchFamily="18" charset="0"/>
                        </a:rPr>
                        <a:t>0.25</a:t>
                      </a:r>
                      <a:endParaRPr lang="en-US" sz="13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0.5962</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0.0158</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9.4</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0">
                <a:tc>
                  <a:txBody>
                    <a:bodyPr/>
                    <a:lstStyle/>
                    <a:p>
                      <a:pPr algn="l">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llama-3.1-8b</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dirty="0">
                          <a:solidFill>
                            <a:schemeClr val="tx1"/>
                          </a:solidFill>
                          <a:effectLst/>
                          <a:latin typeface="Times New Roman" panose="02020603050405020304" pitchFamily="18" charset="0"/>
                          <a:cs typeface="Times New Roman" panose="02020603050405020304" pitchFamily="18" charset="0"/>
                        </a:rPr>
                        <a:t>0.29</a:t>
                      </a:r>
                      <a:endParaRPr lang="en-US" sz="13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dirty="0">
                          <a:solidFill>
                            <a:schemeClr val="tx1"/>
                          </a:solidFill>
                          <a:effectLst/>
                          <a:latin typeface="Times New Roman" panose="02020603050405020304" pitchFamily="18" charset="0"/>
                          <a:cs typeface="Times New Roman" panose="02020603050405020304" pitchFamily="18" charset="0"/>
                        </a:rPr>
                        <a:t>0.4430</a:t>
                      </a:r>
                      <a:endParaRPr lang="en-US" sz="13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0.0442</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4.4</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0">
                <a:tc>
                  <a:txBody>
                    <a:bodyPr/>
                    <a:lstStyle/>
                    <a:p>
                      <a:pPr algn="l">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mistral-7b</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0.27</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dirty="0">
                          <a:solidFill>
                            <a:schemeClr val="tx1"/>
                          </a:solidFill>
                          <a:effectLst/>
                          <a:latin typeface="Times New Roman" panose="02020603050405020304" pitchFamily="18" charset="0"/>
                          <a:cs typeface="Times New Roman" panose="02020603050405020304" pitchFamily="18" charset="0"/>
                        </a:rPr>
                        <a:t>0.4451</a:t>
                      </a:r>
                      <a:endParaRPr lang="en-US" sz="13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dirty="0">
                          <a:solidFill>
                            <a:schemeClr val="tx1"/>
                          </a:solidFill>
                          <a:effectLst/>
                          <a:latin typeface="Times New Roman" panose="02020603050405020304" pitchFamily="18" charset="0"/>
                          <a:cs typeface="Times New Roman" panose="02020603050405020304" pitchFamily="18" charset="0"/>
                        </a:rPr>
                        <a:t>0.0170</a:t>
                      </a:r>
                      <a:endParaRPr lang="en-US" sz="13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dirty="0">
                          <a:solidFill>
                            <a:schemeClr val="tx1"/>
                          </a:solidFill>
                          <a:effectLst/>
                          <a:latin typeface="Times New Roman" panose="02020603050405020304" pitchFamily="18" charset="0"/>
                          <a:cs typeface="Times New Roman" panose="02020603050405020304" pitchFamily="18" charset="0"/>
                        </a:rPr>
                        <a:t>4.0</a:t>
                      </a:r>
                      <a:endParaRPr lang="en-US" sz="13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10" name="Rectangle 2"/>
          <p:cNvSpPr>
            <a:spLocks noChangeArrowheads="1"/>
          </p:cNvSpPr>
          <p:nvPr/>
        </p:nvSpPr>
        <p:spPr bwMode="auto">
          <a:xfrm>
            <a:off x="4757177" y="563055"/>
            <a:ext cx="2433680"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300"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Calibration (</a:t>
            </a:r>
            <a:r>
              <a:rPr kumimoji="0" lang="en-US" sz="1300" b="0" i="0" u="none" strike="noStrike" cap="none" normalizeH="0" baseline="0" dirty="0" err="1"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Hiệu</a:t>
            </a:r>
            <a:r>
              <a:rPr kumimoji="0" lang="en-US" sz="1300"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sz="1300" b="0" i="0" u="none" strike="noStrike" cap="none" normalizeH="0" baseline="0" dirty="0" err="1"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chuẩn</a:t>
            </a:r>
            <a:r>
              <a:rPr kumimoji="0" lang="en-US" sz="1300"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sz="1300" b="0" i="0" u="none" strike="noStrike" cap="none" normalizeH="0" baseline="0" dirty="0" err="1"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xác</a:t>
            </a:r>
            <a:r>
              <a:rPr kumimoji="0" lang="en-US" sz="1300"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sz="1300" b="0" i="0" u="sng" strike="noStrike" cap="none" normalizeH="0" baseline="0" dirty="0" err="1"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suất</a:t>
            </a:r>
            <a:r>
              <a:rPr kumimoji="0" lang="en-US" sz="1300" b="0" i="0" u="sng"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
            </a:r>
            <a:endParaRPr kumimoji="0" lang="en-US" sz="1300" b="0" i="0" u="sng"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sz="13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
        <p:nvSpPr>
          <p:cNvPr id="11" name="Rectangle 10"/>
          <p:cNvSpPr/>
          <p:nvPr/>
        </p:nvSpPr>
        <p:spPr>
          <a:xfrm>
            <a:off x="3972218" y="2501407"/>
            <a:ext cx="4003597" cy="291939"/>
          </a:xfrm>
          <a:prstGeom prst="rect">
            <a:avLst/>
          </a:prstGeom>
        </p:spPr>
        <p:txBody>
          <a:bodyPr wrap="none">
            <a:spAutoFit/>
          </a:bodyPr>
          <a:lstStyle/>
          <a:p>
            <a:pPr>
              <a:lnSpc>
                <a:spcPct val="107000"/>
              </a:lnSpc>
              <a:spcAft>
                <a:spcPts val="800"/>
              </a:spcAft>
            </a:pPr>
            <a:r>
              <a:rPr lang="en-US" sz="1300" dirty="0">
                <a:latin typeface="Times New Roman" panose="02020603050405020304" pitchFamily="18" charset="0"/>
                <a:ea typeface="Calibri" panose="020F0502020204030204" pitchFamily="34" charset="0"/>
                <a:cs typeface="Times New Roman" panose="02020603050405020304" pitchFamily="18" charset="0"/>
              </a:rPr>
              <a:t>Tier 0: Format / Diversity (</a:t>
            </a:r>
            <a:r>
              <a:rPr lang="en-US" sz="1300" dirty="0" err="1">
                <a:latin typeface="Times New Roman" panose="02020603050405020304" pitchFamily="18" charset="0"/>
                <a:ea typeface="Calibri" panose="020F0502020204030204" pitchFamily="34" charset="0"/>
                <a:cs typeface="Times New Roman" panose="02020603050405020304" pitchFamily="18" charset="0"/>
              </a:rPr>
              <a:t>định</a:t>
            </a:r>
            <a:r>
              <a:rPr lang="en-US" sz="1300" dirty="0">
                <a:latin typeface="Times New Roman" panose="02020603050405020304" pitchFamily="18" charset="0"/>
                <a:ea typeface="Calibri" panose="020F0502020204030204" pitchFamily="34" charset="0"/>
                <a:cs typeface="Times New Roman" panose="02020603050405020304" pitchFamily="18" charset="0"/>
              </a:rPr>
              <a:t> </a:t>
            </a:r>
            <a:r>
              <a:rPr lang="en-US" sz="1300" dirty="0" err="1">
                <a:latin typeface="Times New Roman" panose="02020603050405020304" pitchFamily="18" charset="0"/>
                <a:ea typeface="Calibri" panose="020F0502020204030204" pitchFamily="34" charset="0"/>
                <a:cs typeface="Times New Roman" panose="02020603050405020304" pitchFamily="18" charset="0"/>
              </a:rPr>
              <a:t>dạng</a:t>
            </a:r>
            <a:r>
              <a:rPr lang="en-US" sz="1300" dirty="0">
                <a:latin typeface="Times New Roman" panose="02020603050405020304" pitchFamily="18" charset="0"/>
                <a:ea typeface="Calibri" panose="020F0502020204030204" pitchFamily="34" charset="0"/>
                <a:cs typeface="Times New Roman" panose="02020603050405020304" pitchFamily="18" charset="0"/>
              </a:rPr>
              <a:t> + </a:t>
            </a:r>
            <a:r>
              <a:rPr lang="en-US" sz="1300" dirty="0" err="1">
                <a:latin typeface="Times New Roman" panose="02020603050405020304" pitchFamily="18" charset="0"/>
                <a:ea typeface="Calibri" panose="020F0502020204030204" pitchFamily="34" charset="0"/>
                <a:cs typeface="Times New Roman" panose="02020603050405020304" pitchFamily="18" charset="0"/>
              </a:rPr>
              <a:t>đa</a:t>
            </a:r>
            <a:r>
              <a:rPr lang="en-US" sz="1300" dirty="0">
                <a:latin typeface="Times New Roman" panose="02020603050405020304" pitchFamily="18" charset="0"/>
                <a:ea typeface="Calibri" panose="020F0502020204030204" pitchFamily="34" charset="0"/>
                <a:cs typeface="Times New Roman" panose="02020603050405020304" pitchFamily="18" charset="0"/>
              </a:rPr>
              <a:t> </a:t>
            </a:r>
            <a:r>
              <a:rPr lang="en-US" sz="1300" dirty="0" err="1">
                <a:latin typeface="Times New Roman" panose="02020603050405020304" pitchFamily="18" charset="0"/>
                <a:ea typeface="Calibri" panose="020F0502020204030204" pitchFamily="34" charset="0"/>
                <a:cs typeface="Times New Roman" panose="02020603050405020304" pitchFamily="18" charset="0"/>
              </a:rPr>
              <a:t>dạng</a:t>
            </a:r>
            <a:r>
              <a:rPr lang="en-US" sz="1300" dirty="0">
                <a:latin typeface="Times New Roman" panose="02020603050405020304" pitchFamily="18" charset="0"/>
                <a:ea typeface="Calibri" panose="020F0502020204030204" pitchFamily="34" charset="0"/>
                <a:cs typeface="Times New Roman" panose="02020603050405020304" pitchFamily="18" charset="0"/>
              </a:rPr>
              <a:t> </a:t>
            </a:r>
            <a:r>
              <a:rPr lang="en-US" sz="1300" dirty="0" err="1">
                <a:latin typeface="Times New Roman" panose="02020603050405020304" pitchFamily="18" charset="0"/>
                <a:ea typeface="Calibri" panose="020F0502020204030204" pitchFamily="34" charset="0"/>
                <a:cs typeface="Times New Roman" panose="02020603050405020304" pitchFamily="18" charset="0"/>
              </a:rPr>
              <a:t>kỹ</a:t>
            </a:r>
            <a:r>
              <a:rPr lang="en-US" sz="1300" dirty="0">
                <a:latin typeface="Times New Roman" panose="02020603050405020304" pitchFamily="18" charset="0"/>
                <a:ea typeface="Calibri" panose="020F0502020204030204" pitchFamily="34" charset="0"/>
                <a:cs typeface="Times New Roman" panose="02020603050405020304" pitchFamily="18" charset="0"/>
              </a:rPr>
              <a:t> </a:t>
            </a:r>
            <a:r>
              <a:rPr lang="en-US" sz="1300" dirty="0" err="1">
                <a:latin typeface="Times New Roman" panose="02020603050405020304" pitchFamily="18" charset="0"/>
                <a:ea typeface="Calibri" panose="020F0502020204030204" pitchFamily="34" charset="0"/>
                <a:cs typeface="Times New Roman" panose="02020603050405020304" pitchFamily="18" charset="0"/>
              </a:rPr>
              <a:t>thuật</a:t>
            </a:r>
            <a:r>
              <a:rPr lang="en-US" sz="1300" dirty="0">
                <a:latin typeface="Times New Roman" panose="02020603050405020304" pitchFamily="18" charset="0"/>
                <a:ea typeface="Calibri" panose="020F0502020204030204" pitchFamily="34" charset="0"/>
                <a:cs typeface="Times New Roman" panose="02020603050405020304" pitchFamily="18" charset="0"/>
              </a:rPr>
              <a:t>)</a:t>
            </a:r>
            <a:endParaRPr lang="en-US" sz="1300" dirty="0">
              <a:effectLst/>
              <a:latin typeface="Times New Roman" panose="02020603050405020304" pitchFamily="18" charset="0"/>
              <a:ea typeface="Calibri" panose="020F0502020204030204" pitchFamily="34" charset="0"/>
              <a:cs typeface="Times New Roman" panose="02020603050405020304" pitchFamily="18" charset="0"/>
            </a:endParaRPr>
          </a:p>
        </p:txBody>
      </p:sp>
      <p:graphicFrame>
        <p:nvGraphicFramePr>
          <p:cNvPr id="12" name="Table 11"/>
          <p:cNvGraphicFramePr>
            <a:graphicFrameLocks noGrp="1"/>
          </p:cNvGraphicFramePr>
          <p:nvPr>
            <p:extLst>
              <p:ext uri="{D42A27DB-BD31-4B8C-83A1-F6EECF244321}">
                <p14:modId xmlns:p14="http://schemas.microsoft.com/office/powerpoint/2010/main" val="3088939815"/>
              </p:ext>
            </p:extLst>
          </p:nvPr>
        </p:nvGraphicFramePr>
        <p:xfrm>
          <a:off x="2995565" y="3121503"/>
          <a:ext cx="5937250" cy="988380"/>
        </p:xfrm>
        <a:graphic>
          <a:graphicData uri="http://schemas.openxmlformats.org/drawingml/2006/table">
            <a:tbl>
              <a:tblPr firstRow="1" firstCol="1" bandRow="1">
                <a:tableStyleId>{5C22544A-7EE6-4342-B048-85BDC9FD1C3A}</a:tableStyleId>
              </a:tblPr>
              <a:tblGrid>
                <a:gridCol w="1483995"/>
                <a:gridCol w="1483995"/>
                <a:gridCol w="1484630"/>
                <a:gridCol w="1484630"/>
              </a:tblGrid>
              <a:tr h="0">
                <a:tc>
                  <a:txBody>
                    <a:bodyPr/>
                    <a:lstStyle/>
                    <a:p>
                      <a:pPr algn="ctr">
                        <a:lnSpc>
                          <a:spcPct val="107000"/>
                        </a:lnSpc>
                        <a:spcAft>
                          <a:spcPts val="0"/>
                        </a:spcAft>
                      </a:pPr>
                      <a:r>
                        <a:rPr lang="en-US" sz="1300" dirty="0">
                          <a:solidFill>
                            <a:schemeClr val="tx1"/>
                          </a:solidFill>
                          <a:effectLst/>
                          <a:latin typeface="Times New Roman" panose="02020603050405020304" pitchFamily="18" charset="0"/>
                          <a:cs typeface="Times New Roman" panose="02020603050405020304" pitchFamily="18" charset="0"/>
                        </a:rPr>
                        <a:t>Model</a:t>
                      </a:r>
                      <a:endParaRPr lang="en-US" sz="13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dirty="0">
                          <a:solidFill>
                            <a:schemeClr val="tx1"/>
                          </a:solidFill>
                          <a:effectLst/>
                          <a:latin typeface="Times New Roman" panose="02020603050405020304" pitchFamily="18" charset="0"/>
                          <a:cs typeface="Times New Roman" panose="02020603050405020304" pitchFamily="18" charset="0"/>
                        </a:rPr>
                        <a:t>All fields %</a:t>
                      </a:r>
                      <a:endParaRPr lang="en-US" sz="13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Unique techniques</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Entropy (norm)</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0">
                <a:tc>
                  <a:txBody>
                    <a:bodyPr/>
                    <a:lstStyle/>
                    <a:p>
                      <a:pP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qwen2.5-7b</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dirty="0">
                          <a:solidFill>
                            <a:schemeClr val="tx1"/>
                          </a:solidFill>
                          <a:effectLst/>
                          <a:latin typeface="Times New Roman" panose="02020603050405020304" pitchFamily="18" charset="0"/>
                          <a:cs typeface="Times New Roman" panose="02020603050405020304" pitchFamily="18" charset="0"/>
                        </a:rPr>
                        <a:t>100%</a:t>
                      </a:r>
                      <a:endParaRPr lang="en-US" sz="13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9</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0.702</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0">
                <a:tc>
                  <a:txBody>
                    <a:bodyPr/>
                    <a:lstStyle/>
                    <a:p>
                      <a:pP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gemma2-9b</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dirty="0">
                          <a:solidFill>
                            <a:schemeClr val="tx1"/>
                          </a:solidFill>
                          <a:effectLst/>
                          <a:latin typeface="Times New Roman" panose="02020603050405020304" pitchFamily="18" charset="0"/>
                          <a:cs typeface="Times New Roman" panose="02020603050405020304" pitchFamily="18" charset="0"/>
                        </a:rPr>
                        <a:t>100%</a:t>
                      </a:r>
                      <a:endParaRPr lang="en-US" sz="13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dirty="0">
                          <a:solidFill>
                            <a:schemeClr val="tx1"/>
                          </a:solidFill>
                          <a:effectLst/>
                          <a:latin typeface="Times New Roman" panose="02020603050405020304" pitchFamily="18" charset="0"/>
                          <a:cs typeface="Times New Roman" panose="02020603050405020304" pitchFamily="18" charset="0"/>
                        </a:rPr>
                        <a:t>10</a:t>
                      </a:r>
                      <a:endParaRPr lang="en-US" sz="13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0.806</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0">
                <a:tc>
                  <a:txBody>
                    <a:bodyPr/>
                    <a:lstStyle/>
                    <a:p>
                      <a:pP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llama-3.1-8b</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100%</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dirty="0">
                          <a:solidFill>
                            <a:schemeClr val="tx1"/>
                          </a:solidFill>
                          <a:effectLst/>
                          <a:latin typeface="Times New Roman" panose="02020603050405020304" pitchFamily="18" charset="0"/>
                          <a:cs typeface="Times New Roman" panose="02020603050405020304" pitchFamily="18" charset="0"/>
                        </a:rPr>
                        <a:t>7</a:t>
                      </a:r>
                      <a:endParaRPr lang="en-US" sz="13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0.720</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0">
                <a:tc>
                  <a:txBody>
                    <a:bodyPr/>
                    <a:lstStyle/>
                    <a:p>
                      <a:pP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mistral-7b</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100%</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dirty="0">
                          <a:solidFill>
                            <a:schemeClr val="tx1"/>
                          </a:solidFill>
                          <a:effectLst/>
                          <a:latin typeface="Times New Roman" panose="02020603050405020304" pitchFamily="18" charset="0"/>
                          <a:cs typeface="Times New Roman" panose="02020603050405020304" pitchFamily="18" charset="0"/>
                        </a:rPr>
                        <a:t>7</a:t>
                      </a:r>
                      <a:endParaRPr lang="en-US" sz="13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dirty="0">
                          <a:solidFill>
                            <a:schemeClr val="tx1"/>
                          </a:solidFill>
                          <a:effectLst/>
                          <a:latin typeface="Times New Roman" panose="02020603050405020304" pitchFamily="18" charset="0"/>
                          <a:cs typeface="Times New Roman" panose="02020603050405020304" pitchFamily="18" charset="0"/>
                        </a:rPr>
                        <a:t>0.650</a:t>
                      </a:r>
                      <a:endParaRPr lang="en-US" sz="13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13" name="Rectangle 12"/>
          <p:cNvSpPr/>
          <p:nvPr/>
        </p:nvSpPr>
        <p:spPr>
          <a:xfrm>
            <a:off x="4127709" y="4351398"/>
            <a:ext cx="3692614" cy="291939"/>
          </a:xfrm>
          <a:prstGeom prst="rect">
            <a:avLst/>
          </a:prstGeom>
        </p:spPr>
        <p:txBody>
          <a:bodyPr wrap="none">
            <a:spAutoFit/>
          </a:bodyPr>
          <a:lstStyle/>
          <a:p>
            <a:pPr>
              <a:lnSpc>
                <a:spcPct val="107000"/>
              </a:lnSpc>
              <a:spcAft>
                <a:spcPts val="800"/>
              </a:spcAft>
            </a:pPr>
            <a:r>
              <a:rPr lang="en-US" sz="1300" dirty="0">
                <a:latin typeface="Times New Roman" panose="02020603050405020304" pitchFamily="18" charset="0"/>
                <a:ea typeface="Calibri" panose="020F0502020204030204" pitchFamily="34" charset="0"/>
                <a:cs typeface="Times New Roman" panose="02020603050405020304" pitchFamily="18" charset="0"/>
              </a:rPr>
              <a:t>Tier 3: CTRS-style (</a:t>
            </a:r>
            <a:r>
              <a:rPr lang="en-US" sz="1300" dirty="0" err="1">
                <a:latin typeface="Times New Roman" panose="02020603050405020304" pitchFamily="18" charset="0"/>
                <a:ea typeface="Calibri" panose="020F0502020204030204" pitchFamily="34" charset="0"/>
                <a:cs typeface="Times New Roman" panose="02020603050405020304" pitchFamily="18" charset="0"/>
              </a:rPr>
              <a:t>điểm</a:t>
            </a:r>
            <a:r>
              <a:rPr lang="en-US" sz="1300" dirty="0">
                <a:latin typeface="Times New Roman" panose="02020603050405020304" pitchFamily="18" charset="0"/>
                <a:ea typeface="Calibri" panose="020F0502020204030204" pitchFamily="34" charset="0"/>
                <a:cs typeface="Times New Roman" panose="02020603050405020304" pitchFamily="18" charset="0"/>
              </a:rPr>
              <a:t> </a:t>
            </a:r>
            <a:r>
              <a:rPr lang="en-US" sz="1300" dirty="0" err="1">
                <a:latin typeface="Times New Roman" panose="02020603050405020304" pitchFamily="18" charset="0"/>
                <a:ea typeface="Calibri" panose="020F0502020204030204" pitchFamily="34" charset="0"/>
                <a:cs typeface="Times New Roman" panose="02020603050405020304" pitchFamily="18" charset="0"/>
              </a:rPr>
              <a:t>chất</a:t>
            </a:r>
            <a:r>
              <a:rPr lang="en-US" sz="1300" dirty="0">
                <a:latin typeface="Times New Roman" panose="02020603050405020304" pitchFamily="18" charset="0"/>
                <a:ea typeface="Calibri" panose="020F0502020204030204" pitchFamily="34" charset="0"/>
                <a:cs typeface="Times New Roman" panose="02020603050405020304" pitchFamily="18" charset="0"/>
              </a:rPr>
              <a:t> </a:t>
            </a:r>
            <a:r>
              <a:rPr lang="en-US" sz="1300" dirty="0" err="1">
                <a:latin typeface="Times New Roman" panose="02020603050405020304" pitchFamily="18" charset="0"/>
                <a:ea typeface="Calibri" panose="020F0502020204030204" pitchFamily="34" charset="0"/>
                <a:cs typeface="Times New Roman" panose="02020603050405020304" pitchFamily="18" charset="0"/>
              </a:rPr>
              <a:t>lượng</a:t>
            </a:r>
            <a:r>
              <a:rPr lang="en-US" sz="1300" dirty="0">
                <a:latin typeface="Times New Roman" panose="02020603050405020304" pitchFamily="18" charset="0"/>
                <a:ea typeface="Calibri" panose="020F0502020204030204" pitchFamily="34" charset="0"/>
                <a:cs typeface="Times New Roman" panose="02020603050405020304" pitchFamily="18" charset="0"/>
              </a:rPr>
              <a:t> </a:t>
            </a:r>
            <a:r>
              <a:rPr lang="en-US" sz="1300" dirty="0" err="1">
                <a:latin typeface="Times New Roman" panose="02020603050405020304" pitchFamily="18" charset="0"/>
                <a:ea typeface="Calibri" panose="020F0502020204030204" pitchFamily="34" charset="0"/>
                <a:cs typeface="Times New Roman" panose="02020603050405020304" pitchFamily="18" charset="0"/>
              </a:rPr>
              <a:t>hội</a:t>
            </a:r>
            <a:r>
              <a:rPr lang="en-US" sz="1300" dirty="0">
                <a:latin typeface="Times New Roman" panose="02020603050405020304" pitchFamily="18" charset="0"/>
                <a:ea typeface="Calibri" panose="020F0502020204030204" pitchFamily="34" charset="0"/>
                <a:cs typeface="Times New Roman" panose="02020603050405020304" pitchFamily="18" charset="0"/>
              </a:rPr>
              <a:t> </a:t>
            </a:r>
            <a:r>
              <a:rPr lang="en-US" sz="1300" dirty="0" err="1">
                <a:latin typeface="Times New Roman" panose="02020603050405020304" pitchFamily="18" charset="0"/>
                <a:ea typeface="Calibri" panose="020F0502020204030204" pitchFamily="34" charset="0"/>
                <a:cs typeface="Times New Roman" panose="02020603050405020304" pitchFamily="18" charset="0"/>
              </a:rPr>
              <a:t>thoại</a:t>
            </a:r>
            <a:r>
              <a:rPr lang="en-US" sz="1300" dirty="0">
                <a:latin typeface="Times New Roman" panose="02020603050405020304" pitchFamily="18" charset="0"/>
                <a:ea typeface="Calibri" panose="020F0502020204030204" pitchFamily="34" charset="0"/>
                <a:cs typeface="Times New Roman" panose="02020603050405020304" pitchFamily="18" charset="0"/>
              </a:rPr>
              <a:t> CBT)</a:t>
            </a:r>
            <a:endParaRPr lang="en-US" sz="1300" dirty="0">
              <a:effectLst/>
              <a:latin typeface="Times New Roman" panose="02020603050405020304" pitchFamily="18" charset="0"/>
              <a:ea typeface="Calibri" panose="020F0502020204030204" pitchFamily="34" charset="0"/>
              <a:cs typeface="Times New Roman" panose="02020603050405020304" pitchFamily="18" charset="0"/>
            </a:endParaRPr>
          </a:p>
        </p:txBody>
      </p:sp>
      <p:graphicFrame>
        <p:nvGraphicFramePr>
          <p:cNvPr id="14" name="Table 13"/>
          <p:cNvGraphicFramePr>
            <a:graphicFrameLocks noGrp="1"/>
          </p:cNvGraphicFramePr>
          <p:nvPr>
            <p:extLst>
              <p:ext uri="{D42A27DB-BD31-4B8C-83A1-F6EECF244321}">
                <p14:modId xmlns:p14="http://schemas.microsoft.com/office/powerpoint/2010/main" val="2789161093"/>
              </p:ext>
            </p:extLst>
          </p:nvPr>
        </p:nvGraphicFramePr>
        <p:xfrm>
          <a:off x="3005391" y="4782971"/>
          <a:ext cx="5937250" cy="1412306"/>
        </p:xfrm>
        <a:graphic>
          <a:graphicData uri="http://schemas.openxmlformats.org/drawingml/2006/table">
            <a:tbl>
              <a:tblPr firstRow="1" firstCol="1" bandRow="1">
                <a:tableStyleId>{5C22544A-7EE6-4342-B048-85BDC9FD1C3A}</a:tableStyleId>
              </a:tblPr>
              <a:tblGrid>
                <a:gridCol w="989330"/>
                <a:gridCol w="989330"/>
                <a:gridCol w="989330"/>
                <a:gridCol w="989330"/>
                <a:gridCol w="989965"/>
                <a:gridCol w="989965"/>
              </a:tblGrid>
              <a:tr h="0">
                <a:tc>
                  <a:txBody>
                    <a:bodyPr/>
                    <a:lstStyle/>
                    <a:p>
                      <a:pPr algn="ctr">
                        <a:lnSpc>
                          <a:spcPct val="107000"/>
                        </a:lnSpc>
                        <a:spcAft>
                          <a:spcPts val="0"/>
                        </a:spcAft>
                      </a:pPr>
                      <a:r>
                        <a:rPr lang="en-US" sz="1300" dirty="0">
                          <a:solidFill>
                            <a:schemeClr val="tx1"/>
                          </a:solidFill>
                          <a:effectLst/>
                          <a:latin typeface="Times New Roman" panose="02020603050405020304" pitchFamily="18" charset="0"/>
                          <a:cs typeface="Times New Roman" panose="02020603050405020304" pitchFamily="18" charset="0"/>
                        </a:rPr>
                        <a:t>Model</a:t>
                      </a:r>
                      <a:endParaRPr lang="en-US" sz="13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dirty="0">
                          <a:solidFill>
                            <a:schemeClr val="tx1"/>
                          </a:solidFill>
                          <a:effectLst/>
                          <a:latin typeface="Times New Roman" panose="02020603050405020304" pitchFamily="18" charset="0"/>
                          <a:cs typeface="Times New Roman" panose="02020603050405020304" pitchFamily="18" charset="0"/>
                        </a:rPr>
                        <a:t>Empathy</a:t>
                      </a:r>
                      <a:endParaRPr lang="en-US" sz="13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dirty="0">
                          <a:solidFill>
                            <a:schemeClr val="tx1"/>
                          </a:solidFill>
                          <a:effectLst/>
                          <a:latin typeface="Times New Roman" panose="02020603050405020304" pitchFamily="18" charset="0"/>
                          <a:cs typeface="Times New Roman" panose="02020603050405020304" pitchFamily="18" charset="0"/>
                        </a:rPr>
                        <a:t>Collaboration</a:t>
                      </a:r>
                      <a:endParaRPr lang="en-US" sz="13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dirty="0">
                          <a:solidFill>
                            <a:schemeClr val="tx1"/>
                          </a:solidFill>
                          <a:effectLst/>
                          <a:latin typeface="Times New Roman" panose="02020603050405020304" pitchFamily="18" charset="0"/>
                          <a:cs typeface="Times New Roman" panose="02020603050405020304" pitchFamily="18" charset="0"/>
                        </a:rPr>
                        <a:t>Guided discovery</a:t>
                      </a:r>
                      <a:endParaRPr lang="en-US" sz="13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Technique fidelity</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CBT adherence</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0">
                <a:tc>
                  <a:txBody>
                    <a:bodyPr/>
                    <a:lstStyle/>
                    <a:p>
                      <a:pP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qwen2.5-7b</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3.812</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3.750</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dirty="0">
                          <a:solidFill>
                            <a:schemeClr val="tx1"/>
                          </a:solidFill>
                          <a:effectLst/>
                          <a:latin typeface="Times New Roman" panose="02020603050405020304" pitchFamily="18" charset="0"/>
                          <a:cs typeface="Times New Roman" panose="02020603050405020304" pitchFamily="18" charset="0"/>
                        </a:rPr>
                        <a:t>3.250</a:t>
                      </a:r>
                      <a:endParaRPr lang="en-US" sz="13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dirty="0">
                          <a:solidFill>
                            <a:schemeClr val="tx1"/>
                          </a:solidFill>
                          <a:effectLst/>
                          <a:latin typeface="Times New Roman" panose="02020603050405020304" pitchFamily="18" charset="0"/>
                          <a:cs typeface="Times New Roman" panose="02020603050405020304" pitchFamily="18" charset="0"/>
                        </a:rPr>
                        <a:t>4.500</a:t>
                      </a:r>
                      <a:endParaRPr lang="en-US" sz="13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4.562</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0">
                <a:tc>
                  <a:txBody>
                    <a:bodyPr/>
                    <a:lstStyle/>
                    <a:p>
                      <a:pP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gemma2-9b</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3.812</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3.625</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2.750</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dirty="0">
                          <a:solidFill>
                            <a:schemeClr val="tx1"/>
                          </a:solidFill>
                          <a:effectLst/>
                          <a:latin typeface="Times New Roman" panose="02020603050405020304" pitchFamily="18" charset="0"/>
                          <a:cs typeface="Times New Roman" panose="02020603050405020304" pitchFamily="18" charset="0"/>
                        </a:rPr>
                        <a:t>4.312</a:t>
                      </a:r>
                      <a:endParaRPr lang="en-US" sz="13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4.375</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0">
                <a:tc>
                  <a:txBody>
                    <a:bodyPr/>
                    <a:lstStyle/>
                    <a:p>
                      <a:pP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llama-3.1-8b</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3.875</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3.500</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2.750</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dirty="0">
                          <a:solidFill>
                            <a:schemeClr val="tx1"/>
                          </a:solidFill>
                          <a:effectLst/>
                          <a:latin typeface="Times New Roman" panose="02020603050405020304" pitchFamily="18" charset="0"/>
                          <a:cs typeface="Times New Roman" panose="02020603050405020304" pitchFamily="18" charset="0"/>
                        </a:rPr>
                        <a:t>4.688</a:t>
                      </a:r>
                      <a:endParaRPr lang="en-US" sz="13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dirty="0">
                          <a:solidFill>
                            <a:schemeClr val="tx1"/>
                          </a:solidFill>
                          <a:effectLst/>
                          <a:latin typeface="Times New Roman" panose="02020603050405020304" pitchFamily="18" charset="0"/>
                          <a:cs typeface="Times New Roman" panose="02020603050405020304" pitchFamily="18" charset="0"/>
                        </a:rPr>
                        <a:t>4.750</a:t>
                      </a:r>
                      <a:endParaRPr lang="en-US" sz="13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0">
                <a:tc>
                  <a:txBody>
                    <a:bodyPr/>
                    <a:lstStyle/>
                    <a:p>
                      <a:pP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mistral-7b</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3.875</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3.625</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2.688</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4.250</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dirty="0">
                          <a:solidFill>
                            <a:schemeClr val="tx1"/>
                          </a:solidFill>
                          <a:effectLst/>
                          <a:latin typeface="Times New Roman" panose="02020603050405020304" pitchFamily="18" charset="0"/>
                          <a:cs typeface="Times New Roman" panose="02020603050405020304" pitchFamily="18" charset="0"/>
                        </a:rPr>
                        <a:t>4.375</a:t>
                      </a:r>
                      <a:endParaRPr lang="en-US" sz="13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Tree>
    <p:extLst>
      <p:ext uri="{BB962C8B-B14F-4D97-AF65-F5344CB8AC3E}">
        <p14:creationId xmlns:p14="http://schemas.microsoft.com/office/powerpoint/2010/main" val="165633677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974064" y="491452"/>
            <a:ext cx="3820854" cy="291939"/>
          </a:xfrm>
          <a:prstGeom prst="rect">
            <a:avLst/>
          </a:prstGeom>
        </p:spPr>
        <p:txBody>
          <a:bodyPr wrap="none">
            <a:spAutoFit/>
          </a:bodyPr>
          <a:lstStyle/>
          <a:p>
            <a:pPr>
              <a:lnSpc>
                <a:spcPct val="107000"/>
              </a:lnSpc>
              <a:spcAft>
                <a:spcPts val="800"/>
              </a:spcAft>
            </a:pPr>
            <a:r>
              <a:rPr lang="en-US" sz="1300" dirty="0">
                <a:latin typeface="Times New Roman" panose="02020603050405020304" pitchFamily="18" charset="0"/>
                <a:ea typeface="Calibri" panose="020F0502020204030204" pitchFamily="34" charset="0"/>
                <a:cs typeface="Times New Roman" panose="02020603050405020304" pitchFamily="18" charset="0"/>
              </a:rPr>
              <a:t>Tier 4: Crisis (</a:t>
            </a:r>
            <a:r>
              <a:rPr lang="en-US" sz="1300" dirty="0" err="1">
                <a:latin typeface="Times New Roman" panose="02020603050405020304" pitchFamily="18" charset="0"/>
                <a:ea typeface="Calibri" panose="020F0502020204030204" pitchFamily="34" charset="0"/>
                <a:cs typeface="Times New Roman" panose="02020603050405020304" pitchFamily="18" charset="0"/>
              </a:rPr>
              <a:t>nhận</a:t>
            </a:r>
            <a:r>
              <a:rPr lang="en-US" sz="1300" dirty="0">
                <a:latin typeface="Times New Roman" panose="02020603050405020304" pitchFamily="18" charset="0"/>
                <a:ea typeface="Calibri" panose="020F0502020204030204" pitchFamily="34" charset="0"/>
                <a:cs typeface="Times New Roman" panose="02020603050405020304" pitchFamily="18" charset="0"/>
              </a:rPr>
              <a:t> </a:t>
            </a:r>
            <a:r>
              <a:rPr lang="en-US" sz="1300" dirty="0" err="1">
                <a:latin typeface="Times New Roman" panose="02020603050405020304" pitchFamily="18" charset="0"/>
                <a:ea typeface="Calibri" panose="020F0502020204030204" pitchFamily="34" charset="0"/>
                <a:cs typeface="Times New Roman" panose="02020603050405020304" pitchFamily="18" charset="0"/>
              </a:rPr>
              <a:t>diện</a:t>
            </a:r>
            <a:r>
              <a:rPr lang="en-US" sz="1300" dirty="0">
                <a:latin typeface="Times New Roman" panose="02020603050405020304" pitchFamily="18" charset="0"/>
                <a:ea typeface="Calibri" panose="020F0502020204030204" pitchFamily="34" charset="0"/>
                <a:cs typeface="Times New Roman" panose="02020603050405020304" pitchFamily="18" charset="0"/>
              </a:rPr>
              <a:t> </a:t>
            </a:r>
            <a:r>
              <a:rPr lang="en-US" sz="1300" dirty="0" err="1">
                <a:latin typeface="Times New Roman" panose="02020603050405020304" pitchFamily="18" charset="0"/>
                <a:ea typeface="Calibri" panose="020F0502020204030204" pitchFamily="34" charset="0"/>
                <a:cs typeface="Times New Roman" panose="02020603050405020304" pitchFamily="18" charset="0"/>
              </a:rPr>
              <a:t>khủng</a:t>
            </a:r>
            <a:r>
              <a:rPr lang="en-US" sz="1300" dirty="0">
                <a:latin typeface="Times New Roman" panose="02020603050405020304" pitchFamily="18" charset="0"/>
                <a:ea typeface="Calibri" panose="020F0502020204030204" pitchFamily="34" charset="0"/>
                <a:cs typeface="Times New Roman" panose="02020603050405020304" pitchFamily="18" charset="0"/>
              </a:rPr>
              <a:t> </a:t>
            </a:r>
            <a:r>
              <a:rPr lang="en-US" sz="1300" dirty="0" err="1">
                <a:latin typeface="Times New Roman" panose="02020603050405020304" pitchFamily="18" charset="0"/>
                <a:ea typeface="Calibri" panose="020F0502020204030204" pitchFamily="34" charset="0"/>
                <a:cs typeface="Times New Roman" panose="02020603050405020304" pitchFamily="18" charset="0"/>
              </a:rPr>
              <a:t>hoảng</a:t>
            </a:r>
            <a:r>
              <a:rPr lang="en-US" sz="1300" dirty="0">
                <a:latin typeface="Times New Roman" panose="02020603050405020304" pitchFamily="18" charset="0"/>
                <a:ea typeface="Calibri" panose="020F0502020204030204" pitchFamily="34" charset="0"/>
                <a:cs typeface="Times New Roman" panose="02020603050405020304" pitchFamily="18" charset="0"/>
              </a:rPr>
              <a:t> + </a:t>
            </a:r>
            <a:r>
              <a:rPr lang="en-US" sz="1300" dirty="0" err="1">
                <a:latin typeface="Times New Roman" panose="02020603050405020304" pitchFamily="18" charset="0"/>
                <a:ea typeface="Calibri" panose="020F0502020204030204" pitchFamily="34" charset="0"/>
                <a:cs typeface="Times New Roman" panose="02020603050405020304" pitchFamily="18" charset="0"/>
              </a:rPr>
              <a:t>tránh</a:t>
            </a:r>
            <a:r>
              <a:rPr lang="en-US" sz="1300" dirty="0">
                <a:latin typeface="Times New Roman" panose="02020603050405020304" pitchFamily="18" charset="0"/>
                <a:ea typeface="Calibri" panose="020F0502020204030204" pitchFamily="34" charset="0"/>
                <a:cs typeface="Times New Roman" panose="02020603050405020304" pitchFamily="18" charset="0"/>
              </a:rPr>
              <a:t> </a:t>
            </a:r>
            <a:r>
              <a:rPr lang="en-US" sz="1300" dirty="0" err="1">
                <a:latin typeface="Times New Roman" panose="02020603050405020304" pitchFamily="18" charset="0"/>
                <a:ea typeface="Calibri" panose="020F0502020204030204" pitchFamily="34" charset="0"/>
                <a:cs typeface="Times New Roman" panose="02020603050405020304" pitchFamily="18" charset="0"/>
              </a:rPr>
              <a:t>gây</a:t>
            </a:r>
            <a:r>
              <a:rPr lang="en-US" sz="1300" dirty="0">
                <a:latin typeface="Times New Roman" panose="02020603050405020304" pitchFamily="18" charset="0"/>
                <a:ea typeface="Calibri" panose="020F0502020204030204" pitchFamily="34" charset="0"/>
                <a:cs typeface="Times New Roman" panose="02020603050405020304" pitchFamily="18" charset="0"/>
              </a:rPr>
              <a:t> </a:t>
            </a:r>
            <a:r>
              <a:rPr lang="en-US" sz="1300" dirty="0" err="1">
                <a:latin typeface="Times New Roman" panose="02020603050405020304" pitchFamily="18" charset="0"/>
                <a:ea typeface="Calibri" panose="020F0502020204030204" pitchFamily="34" charset="0"/>
                <a:cs typeface="Times New Roman" panose="02020603050405020304" pitchFamily="18" charset="0"/>
              </a:rPr>
              <a:t>hại</a:t>
            </a:r>
            <a:r>
              <a:rPr lang="en-US" sz="1300" dirty="0">
                <a:latin typeface="Times New Roman" panose="02020603050405020304" pitchFamily="18" charset="0"/>
                <a:ea typeface="Calibri" panose="020F0502020204030204" pitchFamily="34" charset="0"/>
                <a:cs typeface="Times New Roman" panose="02020603050405020304" pitchFamily="18" charset="0"/>
              </a:rPr>
              <a:t>)</a:t>
            </a:r>
            <a:endParaRPr lang="en-US" sz="1300" dirty="0">
              <a:effectLst/>
              <a:latin typeface="Times New Roman" panose="02020603050405020304" pitchFamily="18" charset="0"/>
              <a:ea typeface="Calibri" panose="020F0502020204030204" pitchFamily="34" charset="0"/>
              <a:cs typeface="Times New Roman" panose="02020603050405020304" pitchFamily="18" charset="0"/>
            </a:endParaRPr>
          </a:p>
        </p:txBody>
      </p:sp>
      <p:graphicFrame>
        <p:nvGraphicFramePr>
          <p:cNvPr id="5" name="Table 4"/>
          <p:cNvGraphicFramePr>
            <a:graphicFrameLocks noGrp="1"/>
          </p:cNvGraphicFramePr>
          <p:nvPr>
            <p:extLst>
              <p:ext uri="{D42A27DB-BD31-4B8C-83A1-F6EECF244321}">
                <p14:modId xmlns:p14="http://schemas.microsoft.com/office/powerpoint/2010/main" val="3595182859"/>
              </p:ext>
            </p:extLst>
          </p:nvPr>
        </p:nvGraphicFramePr>
        <p:xfrm>
          <a:off x="2816824" y="880404"/>
          <a:ext cx="5937250" cy="2260158"/>
        </p:xfrm>
        <a:graphic>
          <a:graphicData uri="http://schemas.openxmlformats.org/drawingml/2006/table">
            <a:tbl>
              <a:tblPr firstRow="1" firstCol="1" bandRow="1">
                <a:tableStyleId>{5C22544A-7EE6-4342-B048-85BDC9FD1C3A}</a:tableStyleId>
              </a:tblPr>
              <a:tblGrid>
                <a:gridCol w="847725"/>
                <a:gridCol w="847725"/>
                <a:gridCol w="848360"/>
                <a:gridCol w="848360"/>
                <a:gridCol w="848360"/>
                <a:gridCol w="848360"/>
                <a:gridCol w="848360"/>
              </a:tblGrid>
              <a:tr h="0">
                <a:tc>
                  <a:txBody>
                    <a:bodyPr/>
                    <a:lstStyle/>
                    <a:p>
                      <a:pPr algn="ctr">
                        <a:lnSpc>
                          <a:spcPct val="107000"/>
                        </a:lnSpc>
                        <a:spcAft>
                          <a:spcPts val="0"/>
                        </a:spcAft>
                      </a:pPr>
                      <a:r>
                        <a:rPr lang="en-US" sz="1300" dirty="0">
                          <a:solidFill>
                            <a:schemeClr val="tx1"/>
                          </a:solidFill>
                          <a:effectLst/>
                          <a:latin typeface="Times New Roman" panose="02020603050405020304" pitchFamily="18" charset="0"/>
                          <a:cs typeface="Times New Roman" panose="02020603050405020304" pitchFamily="18" charset="0"/>
                        </a:rPr>
                        <a:t>Model</a:t>
                      </a:r>
                      <a:endParaRPr lang="en-US" sz="13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dirty="0">
                          <a:solidFill>
                            <a:schemeClr val="tx1"/>
                          </a:solidFill>
                          <a:effectLst/>
                          <a:latin typeface="Times New Roman" panose="02020603050405020304" pitchFamily="18" charset="0"/>
                          <a:cs typeface="Times New Roman" panose="02020603050405020304" pitchFamily="18" charset="0"/>
                        </a:rPr>
                        <a:t>Crisis detect</a:t>
                      </a:r>
                      <a:endParaRPr lang="en-US" sz="13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Referral quality</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Harm avoidance</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Non-invalidation</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Scope boundary</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Critical failure rate</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0">
                <a:tc>
                  <a:txBody>
                    <a:bodyPr/>
                    <a:lstStyle/>
                    <a:p>
                      <a:pP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qwen2.5-7b</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dirty="0">
                          <a:solidFill>
                            <a:schemeClr val="tx1"/>
                          </a:solidFill>
                          <a:effectLst/>
                          <a:latin typeface="Times New Roman" panose="02020603050405020304" pitchFamily="18" charset="0"/>
                          <a:cs typeface="Times New Roman" panose="02020603050405020304" pitchFamily="18" charset="0"/>
                        </a:rPr>
                        <a:t>4.467</a:t>
                      </a:r>
                      <a:endParaRPr lang="en-US" sz="13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dirty="0">
                          <a:solidFill>
                            <a:schemeClr val="tx1"/>
                          </a:solidFill>
                          <a:effectLst/>
                          <a:latin typeface="Times New Roman" panose="02020603050405020304" pitchFamily="18" charset="0"/>
                          <a:cs typeface="Times New Roman" panose="02020603050405020304" pitchFamily="18" charset="0"/>
                        </a:rPr>
                        <a:t>4.067</a:t>
                      </a:r>
                      <a:endParaRPr lang="en-US" sz="13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4.867</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dirty="0">
                          <a:solidFill>
                            <a:schemeClr val="tx1"/>
                          </a:solidFill>
                          <a:effectLst/>
                          <a:latin typeface="Times New Roman" panose="02020603050405020304" pitchFamily="18" charset="0"/>
                          <a:cs typeface="Times New Roman" panose="02020603050405020304" pitchFamily="18" charset="0"/>
                        </a:rPr>
                        <a:t>5.000</a:t>
                      </a:r>
                      <a:endParaRPr lang="en-US" sz="13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4.733</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6.67%</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0">
                <a:tc>
                  <a:txBody>
                    <a:bodyPr/>
                    <a:lstStyle/>
                    <a:p>
                      <a:pP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gemma2-9b</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dirty="0">
                          <a:solidFill>
                            <a:schemeClr val="tx1"/>
                          </a:solidFill>
                          <a:effectLst/>
                          <a:latin typeface="Times New Roman" panose="02020603050405020304" pitchFamily="18" charset="0"/>
                          <a:cs typeface="Times New Roman" panose="02020603050405020304" pitchFamily="18" charset="0"/>
                        </a:rPr>
                        <a:t>4.200</a:t>
                      </a:r>
                      <a:endParaRPr lang="en-US" sz="13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dirty="0">
                          <a:solidFill>
                            <a:schemeClr val="tx1"/>
                          </a:solidFill>
                          <a:effectLst/>
                          <a:latin typeface="Times New Roman" panose="02020603050405020304" pitchFamily="18" charset="0"/>
                          <a:cs typeface="Times New Roman" panose="02020603050405020304" pitchFamily="18" charset="0"/>
                        </a:rPr>
                        <a:t>4.067</a:t>
                      </a:r>
                      <a:endParaRPr lang="en-US" sz="13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dirty="0">
                          <a:solidFill>
                            <a:schemeClr val="tx1"/>
                          </a:solidFill>
                          <a:effectLst/>
                          <a:latin typeface="Times New Roman" panose="02020603050405020304" pitchFamily="18" charset="0"/>
                          <a:cs typeface="Times New Roman" panose="02020603050405020304" pitchFamily="18" charset="0"/>
                        </a:rPr>
                        <a:t>4.867</a:t>
                      </a:r>
                      <a:endParaRPr lang="en-US" sz="13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5.000</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dirty="0">
                          <a:solidFill>
                            <a:schemeClr val="tx1"/>
                          </a:solidFill>
                          <a:effectLst/>
                          <a:latin typeface="Times New Roman" panose="02020603050405020304" pitchFamily="18" charset="0"/>
                          <a:cs typeface="Times New Roman" panose="02020603050405020304" pitchFamily="18" charset="0"/>
                        </a:rPr>
                        <a:t>4.867</a:t>
                      </a:r>
                      <a:endParaRPr lang="en-US" sz="13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dirty="0">
                          <a:solidFill>
                            <a:schemeClr val="tx1"/>
                          </a:solidFill>
                          <a:effectLst/>
                          <a:latin typeface="Times New Roman" panose="02020603050405020304" pitchFamily="18" charset="0"/>
                          <a:cs typeface="Times New Roman" panose="02020603050405020304" pitchFamily="18" charset="0"/>
                        </a:rPr>
                        <a:t>13.33%</a:t>
                      </a:r>
                      <a:endParaRPr lang="en-US" sz="13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0">
                <a:tc>
                  <a:txBody>
                    <a:bodyPr/>
                    <a:lstStyle/>
                    <a:p>
                      <a:pP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llama-3.1-8b</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4.333</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4.067</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dirty="0">
                          <a:solidFill>
                            <a:schemeClr val="tx1"/>
                          </a:solidFill>
                          <a:effectLst/>
                          <a:latin typeface="Times New Roman" panose="02020603050405020304" pitchFamily="18" charset="0"/>
                          <a:cs typeface="Times New Roman" panose="02020603050405020304" pitchFamily="18" charset="0"/>
                        </a:rPr>
                        <a:t>4.867</a:t>
                      </a:r>
                      <a:endParaRPr lang="en-US" sz="13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dirty="0">
                          <a:solidFill>
                            <a:schemeClr val="tx1"/>
                          </a:solidFill>
                          <a:effectLst/>
                          <a:latin typeface="Times New Roman" panose="02020603050405020304" pitchFamily="18" charset="0"/>
                          <a:cs typeface="Times New Roman" panose="02020603050405020304" pitchFamily="18" charset="0"/>
                        </a:rPr>
                        <a:t>5.000</a:t>
                      </a:r>
                      <a:endParaRPr lang="en-US" sz="13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dirty="0">
                          <a:solidFill>
                            <a:schemeClr val="tx1"/>
                          </a:solidFill>
                          <a:effectLst/>
                          <a:latin typeface="Times New Roman" panose="02020603050405020304" pitchFamily="18" charset="0"/>
                          <a:cs typeface="Times New Roman" panose="02020603050405020304" pitchFamily="18" charset="0"/>
                        </a:rPr>
                        <a:t>4.733</a:t>
                      </a:r>
                      <a:endParaRPr lang="en-US" sz="13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dirty="0">
                          <a:solidFill>
                            <a:schemeClr val="tx1"/>
                          </a:solidFill>
                          <a:effectLst/>
                          <a:latin typeface="Times New Roman" panose="02020603050405020304" pitchFamily="18" charset="0"/>
                          <a:cs typeface="Times New Roman" panose="02020603050405020304" pitchFamily="18" charset="0"/>
                        </a:rPr>
                        <a:t>13.33%</a:t>
                      </a:r>
                      <a:endParaRPr lang="en-US" sz="13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0">
                <a:tc>
                  <a:txBody>
                    <a:bodyPr/>
                    <a:lstStyle/>
                    <a:p>
                      <a:pPr>
                        <a:lnSpc>
                          <a:spcPct val="107000"/>
                        </a:lnSpc>
                        <a:spcAft>
                          <a:spcPts val="0"/>
                        </a:spcAft>
                      </a:pPr>
                      <a:r>
                        <a:rPr lang="en-US" sz="1300" dirty="0">
                          <a:solidFill>
                            <a:schemeClr val="tx1"/>
                          </a:solidFill>
                          <a:effectLst/>
                          <a:latin typeface="Times New Roman" panose="02020603050405020304" pitchFamily="18" charset="0"/>
                          <a:cs typeface="Times New Roman" panose="02020603050405020304" pitchFamily="18" charset="0"/>
                        </a:rPr>
                        <a:t>mistral-7b</a:t>
                      </a:r>
                      <a:endParaRPr lang="en-US" sz="13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4.467</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4.067</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4.867</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dirty="0">
                          <a:solidFill>
                            <a:schemeClr val="tx1"/>
                          </a:solidFill>
                          <a:effectLst/>
                          <a:latin typeface="Times New Roman" panose="02020603050405020304" pitchFamily="18" charset="0"/>
                          <a:cs typeface="Times New Roman" panose="02020603050405020304" pitchFamily="18" charset="0"/>
                        </a:rPr>
                        <a:t>5.000</a:t>
                      </a:r>
                      <a:endParaRPr lang="en-US" sz="13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dirty="0">
                          <a:solidFill>
                            <a:schemeClr val="tx1"/>
                          </a:solidFill>
                          <a:effectLst/>
                          <a:latin typeface="Times New Roman" panose="02020603050405020304" pitchFamily="18" charset="0"/>
                          <a:cs typeface="Times New Roman" panose="02020603050405020304" pitchFamily="18" charset="0"/>
                        </a:rPr>
                        <a:t>4.733</a:t>
                      </a:r>
                      <a:endParaRPr lang="en-US" sz="13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dirty="0">
                          <a:solidFill>
                            <a:schemeClr val="tx1"/>
                          </a:solidFill>
                          <a:effectLst/>
                          <a:latin typeface="Times New Roman" panose="02020603050405020304" pitchFamily="18" charset="0"/>
                          <a:cs typeface="Times New Roman" panose="02020603050405020304" pitchFamily="18" charset="0"/>
                        </a:rPr>
                        <a:t>6.67%</a:t>
                      </a:r>
                      <a:endParaRPr lang="en-US" sz="13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6" name="Rectangle 5"/>
          <p:cNvSpPr/>
          <p:nvPr/>
        </p:nvSpPr>
        <p:spPr>
          <a:xfrm>
            <a:off x="4157526" y="3260532"/>
            <a:ext cx="3315908" cy="291939"/>
          </a:xfrm>
          <a:prstGeom prst="rect">
            <a:avLst/>
          </a:prstGeom>
        </p:spPr>
        <p:txBody>
          <a:bodyPr wrap="none">
            <a:spAutoFit/>
          </a:bodyPr>
          <a:lstStyle/>
          <a:p>
            <a:pPr>
              <a:lnSpc>
                <a:spcPct val="107000"/>
              </a:lnSpc>
              <a:spcAft>
                <a:spcPts val="800"/>
              </a:spcAft>
            </a:pPr>
            <a:r>
              <a:rPr lang="en-US" sz="1300" dirty="0">
                <a:latin typeface="Times New Roman" panose="02020603050405020304" pitchFamily="18" charset="0"/>
                <a:ea typeface="Calibri" panose="020F0502020204030204" pitchFamily="34" charset="0"/>
                <a:cs typeface="Times New Roman" panose="02020603050405020304" pitchFamily="18" charset="0"/>
              </a:rPr>
              <a:t>Tier 5: Safety (harmlessness + factual + scope)</a:t>
            </a:r>
            <a:endParaRPr lang="en-US" sz="1300" dirty="0">
              <a:effectLst/>
              <a:latin typeface="Times New Roman" panose="02020603050405020304" pitchFamily="18" charset="0"/>
              <a:ea typeface="Calibri" panose="020F0502020204030204" pitchFamily="34" charset="0"/>
              <a:cs typeface="Times New Roman" panose="02020603050405020304" pitchFamily="18" charset="0"/>
            </a:endParaRPr>
          </a:p>
        </p:txBody>
      </p:sp>
      <p:graphicFrame>
        <p:nvGraphicFramePr>
          <p:cNvPr id="7" name="Table 6"/>
          <p:cNvGraphicFramePr>
            <a:graphicFrameLocks noGrp="1"/>
          </p:cNvGraphicFramePr>
          <p:nvPr>
            <p:extLst>
              <p:ext uri="{D42A27DB-BD31-4B8C-83A1-F6EECF244321}">
                <p14:modId xmlns:p14="http://schemas.microsoft.com/office/powerpoint/2010/main" val="892829930"/>
              </p:ext>
            </p:extLst>
          </p:nvPr>
        </p:nvGraphicFramePr>
        <p:xfrm>
          <a:off x="2915866" y="3722875"/>
          <a:ext cx="5937250" cy="2260158"/>
        </p:xfrm>
        <a:graphic>
          <a:graphicData uri="http://schemas.openxmlformats.org/drawingml/2006/table">
            <a:tbl>
              <a:tblPr firstRow="1" firstCol="1" bandRow="1">
                <a:tableStyleId>{5C22544A-7EE6-4342-B048-85BDC9FD1C3A}</a:tableStyleId>
              </a:tblPr>
              <a:tblGrid>
                <a:gridCol w="847725"/>
                <a:gridCol w="847725"/>
                <a:gridCol w="848360"/>
                <a:gridCol w="848360"/>
                <a:gridCol w="848360"/>
                <a:gridCol w="848360"/>
                <a:gridCol w="848360"/>
              </a:tblGrid>
              <a:tr h="0">
                <a:tc>
                  <a:txBody>
                    <a:bodyPr/>
                    <a:lstStyle/>
                    <a:p>
                      <a:pPr algn="ctr">
                        <a:lnSpc>
                          <a:spcPct val="107000"/>
                        </a:lnSpc>
                        <a:spcAft>
                          <a:spcPts val="0"/>
                        </a:spcAft>
                      </a:pPr>
                      <a:r>
                        <a:rPr lang="en-US" sz="1300" dirty="0">
                          <a:solidFill>
                            <a:schemeClr val="tx1"/>
                          </a:solidFill>
                          <a:effectLst/>
                          <a:latin typeface="Times New Roman" panose="02020603050405020304" pitchFamily="18" charset="0"/>
                          <a:cs typeface="Times New Roman" panose="02020603050405020304" pitchFamily="18" charset="0"/>
                        </a:rPr>
                        <a:t>Model</a:t>
                      </a:r>
                      <a:endParaRPr lang="en-US" sz="13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dirty="0">
                          <a:solidFill>
                            <a:schemeClr val="tx1"/>
                          </a:solidFill>
                          <a:effectLst/>
                          <a:latin typeface="Times New Roman" panose="02020603050405020304" pitchFamily="18" charset="0"/>
                          <a:cs typeface="Times New Roman" panose="02020603050405020304" pitchFamily="18" charset="0"/>
                        </a:rPr>
                        <a:t>Harmlessness</a:t>
                      </a:r>
                      <a:endParaRPr lang="en-US" sz="13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Factual accuracy</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Scope adherence</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Referral awareness</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dirty="0">
                          <a:solidFill>
                            <a:schemeClr val="tx1"/>
                          </a:solidFill>
                          <a:effectLst/>
                          <a:latin typeface="Times New Roman" panose="02020603050405020304" pitchFamily="18" charset="0"/>
                          <a:cs typeface="Times New Roman" panose="02020603050405020304" pitchFamily="18" charset="0"/>
                        </a:rPr>
                        <a:t>Boundary clarity</a:t>
                      </a:r>
                      <a:endParaRPr lang="en-US" sz="13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Cultural sensitivity</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0">
                <a:tc>
                  <a:txBody>
                    <a:bodyPr/>
                    <a:lstStyle/>
                    <a:p>
                      <a:pP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qwen2.5-7b</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dirty="0">
                          <a:solidFill>
                            <a:schemeClr val="tx1"/>
                          </a:solidFill>
                          <a:effectLst/>
                          <a:latin typeface="Times New Roman" panose="02020603050405020304" pitchFamily="18" charset="0"/>
                          <a:cs typeface="Times New Roman" panose="02020603050405020304" pitchFamily="18" charset="0"/>
                        </a:rPr>
                        <a:t>5.000</a:t>
                      </a:r>
                      <a:endParaRPr lang="en-US" sz="13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dirty="0">
                          <a:solidFill>
                            <a:schemeClr val="tx1"/>
                          </a:solidFill>
                          <a:effectLst/>
                          <a:latin typeface="Times New Roman" panose="02020603050405020304" pitchFamily="18" charset="0"/>
                          <a:cs typeface="Times New Roman" panose="02020603050405020304" pitchFamily="18" charset="0"/>
                        </a:rPr>
                        <a:t>5.000</a:t>
                      </a:r>
                      <a:endParaRPr lang="en-US" sz="13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dirty="0">
                          <a:solidFill>
                            <a:schemeClr val="tx1"/>
                          </a:solidFill>
                          <a:effectLst/>
                          <a:latin typeface="Times New Roman" panose="02020603050405020304" pitchFamily="18" charset="0"/>
                          <a:cs typeface="Times New Roman" panose="02020603050405020304" pitchFamily="18" charset="0"/>
                        </a:rPr>
                        <a:t>5.000</a:t>
                      </a:r>
                      <a:endParaRPr lang="en-US" sz="13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4.000</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5.000</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5.000</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0">
                <a:tc>
                  <a:txBody>
                    <a:bodyPr/>
                    <a:lstStyle/>
                    <a:p>
                      <a:pP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gemma2-9b</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5.000</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5.000</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dirty="0">
                          <a:solidFill>
                            <a:schemeClr val="tx1"/>
                          </a:solidFill>
                          <a:effectLst/>
                          <a:latin typeface="Times New Roman" panose="02020603050405020304" pitchFamily="18" charset="0"/>
                          <a:cs typeface="Times New Roman" panose="02020603050405020304" pitchFamily="18" charset="0"/>
                        </a:rPr>
                        <a:t>5.000</a:t>
                      </a:r>
                      <a:endParaRPr lang="en-US" sz="13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dirty="0">
                          <a:solidFill>
                            <a:schemeClr val="tx1"/>
                          </a:solidFill>
                          <a:effectLst/>
                          <a:latin typeface="Times New Roman" panose="02020603050405020304" pitchFamily="18" charset="0"/>
                          <a:cs typeface="Times New Roman" panose="02020603050405020304" pitchFamily="18" charset="0"/>
                        </a:rPr>
                        <a:t>4.000</a:t>
                      </a:r>
                      <a:endParaRPr lang="en-US" sz="13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dirty="0">
                          <a:solidFill>
                            <a:schemeClr val="tx1"/>
                          </a:solidFill>
                          <a:effectLst/>
                          <a:latin typeface="Times New Roman" panose="02020603050405020304" pitchFamily="18" charset="0"/>
                          <a:cs typeface="Times New Roman" panose="02020603050405020304" pitchFamily="18" charset="0"/>
                        </a:rPr>
                        <a:t>5.000</a:t>
                      </a:r>
                      <a:endParaRPr lang="en-US" sz="13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dirty="0">
                          <a:solidFill>
                            <a:schemeClr val="tx1"/>
                          </a:solidFill>
                          <a:effectLst/>
                          <a:latin typeface="Times New Roman" panose="02020603050405020304" pitchFamily="18" charset="0"/>
                          <a:cs typeface="Times New Roman" panose="02020603050405020304" pitchFamily="18" charset="0"/>
                        </a:rPr>
                        <a:t>5.000</a:t>
                      </a:r>
                      <a:endParaRPr lang="en-US" sz="13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0">
                <a:tc>
                  <a:txBody>
                    <a:bodyPr/>
                    <a:lstStyle/>
                    <a:p>
                      <a:pP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llama-3.1-8b</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4.875</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4.812</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4.875</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3.875</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dirty="0">
                          <a:solidFill>
                            <a:schemeClr val="tx1"/>
                          </a:solidFill>
                          <a:effectLst/>
                          <a:latin typeface="Times New Roman" panose="02020603050405020304" pitchFamily="18" charset="0"/>
                          <a:cs typeface="Times New Roman" panose="02020603050405020304" pitchFamily="18" charset="0"/>
                        </a:rPr>
                        <a:t>4.938</a:t>
                      </a:r>
                      <a:endParaRPr lang="en-US" sz="13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4.938</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0">
                <a:tc>
                  <a:txBody>
                    <a:bodyPr/>
                    <a:lstStyle/>
                    <a:p>
                      <a:pP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mistral-7b</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4.812</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4.812</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4.750</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3.875</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dirty="0">
                          <a:solidFill>
                            <a:schemeClr val="tx1"/>
                          </a:solidFill>
                          <a:effectLst/>
                          <a:latin typeface="Times New Roman" panose="02020603050405020304" pitchFamily="18" charset="0"/>
                          <a:cs typeface="Times New Roman" panose="02020603050405020304" pitchFamily="18" charset="0"/>
                        </a:rPr>
                        <a:t>4.938</a:t>
                      </a:r>
                      <a:endParaRPr lang="en-US" sz="13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dirty="0">
                          <a:solidFill>
                            <a:schemeClr val="tx1"/>
                          </a:solidFill>
                          <a:effectLst/>
                          <a:latin typeface="Times New Roman" panose="02020603050405020304" pitchFamily="18" charset="0"/>
                          <a:cs typeface="Times New Roman" panose="02020603050405020304" pitchFamily="18" charset="0"/>
                        </a:rPr>
                        <a:t>4.938</a:t>
                      </a:r>
                      <a:endParaRPr lang="en-US" sz="13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Tree>
    <p:extLst>
      <p:ext uri="{BB962C8B-B14F-4D97-AF65-F5344CB8AC3E}">
        <p14:creationId xmlns:p14="http://schemas.microsoft.com/office/powerpoint/2010/main" val="24900865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2519305155"/>
              </p:ext>
            </p:extLst>
          </p:nvPr>
        </p:nvGraphicFramePr>
        <p:xfrm>
          <a:off x="3079630" y="2267027"/>
          <a:ext cx="5937250" cy="1200343"/>
        </p:xfrm>
        <a:graphic>
          <a:graphicData uri="http://schemas.openxmlformats.org/drawingml/2006/table">
            <a:tbl>
              <a:tblPr firstRow="1" firstCol="1" bandRow="1">
                <a:tableStyleId>{5C22544A-7EE6-4342-B048-85BDC9FD1C3A}</a:tableStyleId>
              </a:tblPr>
              <a:tblGrid>
                <a:gridCol w="1483995"/>
                <a:gridCol w="1483995"/>
                <a:gridCol w="1484630"/>
                <a:gridCol w="1484630"/>
              </a:tblGrid>
              <a:tr h="0">
                <a:tc>
                  <a:txBody>
                    <a:bodyPr/>
                    <a:lstStyle/>
                    <a:p>
                      <a:pPr algn="ctr">
                        <a:lnSpc>
                          <a:spcPct val="107000"/>
                        </a:lnSpc>
                        <a:spcAft>
                          <a:spcPts val="0"/>
                        </a:spcAft>
                      </a:pPr>
                      <a:r>
                        <a:rPr lang="en-US" sz="1300" dirty="0">
                          <a:solidFill>
                            <a:schemeClr val="tx1"/>
                          </a:solidFill>
                          <a:effectLst/>
                          <a:latin typeface="Times New Roman" panose="02020603050405020304" pitchFamily="18" charset="0"/>
                          <a:cs typeface="Times New Roman" panose="02020603050405020304" pitchFamily="18" charset="0"/>
                        </a:rPr>
                        <a:t>Model</a:t>
                      </a:r>
                      <a:endParaRPr lang="en-US" sz="13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dirty="0">
                          <a:solidFill>
                            <a:schemeClr val="tx1"/>
                          </a:solidFill>
                          <a:effectLst/>
                          <a:latin typeface="Times New Roman" panose="02020603050405020304" pitchFamily="18" charset="0"/>
                          <a:cs typeface="Times New Roman" panose="02020603050405020304" pitchFamily="18" charset="0"/>
                        </a:rPr>
                        <a:t>Faithfulness</a:t>
                      </a:r>
                      <a:endParaRPr lang="en-US" sz="13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dirty="0">
                          <a:solidFill>
                            <a:schemeClr val="tx1"/>
                          </a:solidFill>
                          <a:effectLst/>
                          <a:latin typeface="Times New Roman" panose="02020603050405020304" pitchFamily="18" charset="0"/>
                          <a:cs typeface="Times New Roman" panose="02020603050405020304" pitchFamily="18" charset="0"/>
                        </a:rPr>
                        <a:t>Answer relevancy</a:t>
                      </a:r>
                      <a:endParaRPr lang="en-US" sz="13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Context precision (w/o ref)</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0">
                <a:tc>
                  <a:txBody>
                    <a:bodyPr/>
                    <a:lstStyle/>
                    <a:p>
                      <a:pP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qwen2.5-7b</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0.073</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dirty="0">
                          <a:solidFill>
                            <a:schemeClr val="tx1"/>
                          </a:solidFill>
                          <a:effectLst/>
                          <a:latin typeface="Times New Roman" panose="02020603050405020304" pitchFamily="18" charset="0"/>
                          <a:cs typeface="Times New Roman" panose="02020603050405020304" pitchFamily="18" charset="0"/>
                        </a:rPr>
                        <a:t>0.168</a:t>
                      </a:r>
                      <a:endParaRPr lang="en-US" sz="13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dirty="0">
                          <a:solidFill>
                            <a:schemeClr val="tx1"/>
                          </a:solidFill>
                          <a:effectLst/>
                          <a:latin typeface="Times New Roman" panose="02020603050405020304" pitchFamily="18" charset="0"/>
                          <a:cs typeface="Times New Roman" panose="02020603050405020304" pitchFamily="18" charset="0"/>
                        </a:rPr>
                        <a:t>0.354</a:t>
                      </a:r>
                      <a:endParaRPr lang="en-US" sz="13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0">
                <a:tc>
                  <a:txBody>
                    <a:bodyPr/>
                    <a:lstStyle/>
                    <a:p>
                      <a:pP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gemma2-9b</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0.118</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0.185</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dirty="0">
                          <a:solidFill>
                            <a:schemeClr val="tx1"/>
                          </a:solidFill>
                          <a:effectLst/>
                          <a:latin typeface="Times New Roman" panose="02020603050405020304" pitchFamily="18" charset="0"/>
                          <a:cs typeface="Times New Roman" panose="02020603050405020304" pitchFamily="18" charset="0"/>
                        </a:rPr>
                        <a:t>0.552</a:t>
                      </a:r>
                      <a:endParaRPr lang="en-US" sz="13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0">
                <a:tc>
                  <a:txBody>
                    <a:bodyPr/>
                    <a:lstStyle/>
                    <a:p>
                      <a:pP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llama-3.1-8b</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0.064</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0.316</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dirty="0">
                          <a:solidFill>
                            <a:schemeClr val="tx1"/>
                          </a:solidFill>
                          <a:effectLst/>
                          <a:latin typeface="Times New Roman" panose="02020603050405020304" pitchFamily="18" charset="0"/>
                          <a:cs typeface="Times New Roman" panose="02020603050405020304" pitchFamily="18" charset="0"/>
                        </a:rPr>
                        <a:t>0.500</a:t>
                      </a:r>
                      <a:endParaRPr lang="en-US" sz="13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0">
                <a:tc>
                  <a:txBody>
                    <a:bodyPr/>
                    <a:lstStyle/>
                    <a:p>
                      <a:pP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mistral-7b</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0.111</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a:solidFill>
                            <a:schemeClr val="tx1"/>
                          </a:solidFill>
                          <a:effectLst/>
                          <a:latin typeface="Times New Roman" panose="02020603050405020304" pitchFamily="18" charset="0"/>
                          <a:cs typeface="Times New Roman" panose="02020603050405020304" pitchFamily="18" charset="0"/>
                        </a:rPr>
                        <a:t>0.070</a:t>
                      </a:r>
                      <a:endParaRPr lang="en-US" sz="13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lnSpc>
                          <a:spcPct val="107000"/>
                        </a:lnSpc>
                        <a:spcAft>
                          <a:spcPts val="0"/>
                        </a:spcAft>
                      </a:pPr>
                      <a:r>
                        <a:rPr lang="en-US" sz="1300" dirty="0">
                          <a:solidFill>
                            <a:schemeClr val="tx1"/>
                          </a:solidFill>
                          <a:effectLst/>
                          <a:latin typeface="Times New Roman" panose="02020603050405020304" pitchFamily="18" charset="0"/>
                          <a:cs typeface="Times New Roman" panose="02020603050405020304" pitchFamily="18" charset="0"/>
                        </a:rPr>
                        <a:t>0.458</a:t>
                      </a:r>
                      <a:endParaRPr lang="en-US" sz="13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5" name="Rectangle 4"/>
          <p:cNvSpPr/>
          <p:nvPr/>
        </p:nvSpPr>
        <p:spPr>
          <a:xfrm>
            <a:off x="4816869" y="1793362"/>
            <a:ext cx="2272353" cy="291939"/>
          </a:xfrm>
          <a:prstGeom prst="rect">
            <a:avLst/>
          </a:prstGeom>
        </p:spPr>
        <p:txBody>
          <a:bodyPr wrap="none">
            <a:spAutoFit/>
          </a:bodyPr>
          <a:lstStyle/>
          <a:p>
            <a:pPr>
              <a:lnSpc>
                <a:spcPct val="107000"/>
              </a:lnSpc>
              <a:spcAft>
                <a:spcPts val="800"/>
              </a:spcAft>
            </a:pPr>
            <a:r>
              <a:rPr lang="en-US" sz="1300" dirty="0">
                <a:latin typeface="Times New Roman" panose="02020603050405020304" pitchFamily="18" charset="0"/>
                <a:ea typeface="Calibri" panose="020F0502020204030204" pitchFamily="34" charset="0"/>
                <a:cs typeface="Times New Roman" panose="02020603050405020304" pitchFamily="18" charset="0"/>
              </a:rPr>
              <a:t>Tier 6: RAG metrics (RAGAS)</a:t>
            </a:r>
            <a:endParaRPr lang="en-US" sz="13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6" name="TextBox 5"/>
          <p:cNvSpPr txBox="1"/>
          <p:nvPr/>
        </p:nvSpPr>
        <p:spPr>
          <a:xfrm>
            <a:off x="1500995" y="4632385"/>
            <a:ext cx="9575321" cy="646331"/>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-&gt; </a:t>
            </a:r>
            <a:r>
              <a:rPr lang="en-US" dirty="0" err="1" smtClean="0">
                <a:latin typeface="Times New Roman" panose="02020603050405020304" pitchFamily="18" charset="0"/>
                <a:cs typeface="Times New Roman" panose="02020603050405020304" pitchFamily="18" charset="0"/>
              </a:rPr>
              <a:t>Kết</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luận</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Hệ</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thống</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sẽ</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sử</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dụng</a:t>
            </a:r>
            <a:r>
              <a:rPr lang="en-US" dirty="0" smtClean="0">
                <a:latin typeface="Times New Roman" panose="02020603050405020304" pitchFamily="18" charset="0"/>
                <a:cs typeface="Times New Roman" panose="02020603050405020304" pitchFamily="18" charset="0"/>
              </a:rPr>
              <a:t> 2 model </a:t>
            </a:r>
            <a:r>
              <a:rPr lang="en-US" dirty="0" err="1" smtClean="0">
                <a:latin typeface="Times New Roman" panose="02020603050405020304" pitchFamily="18" charset="0"/>
                <a:cs typeface="Times New Roman" panose="02020603050405020304" pitchFamily="18" charset="0"/>
              </a:rPr>
              <a:t>với</a:t>
            </a:r>
            <a:r>
              <a:rPr lang="en-US" dirty="0" smtClean="0">
                <a:latin typeface="Times New Roman" panose="02020603050405020304" pitchFamily="18" charset="0"/>
                <a:cs typeface="Times New Roman" panose="02020603050405020304" pitchFamily="18" charset="0"/>
              </a:rPr>
              <a:t> </a:t>
            </a:r>
            <a:r>
              <a:rPr lang="vi-VN" dirty="0">
                <a:latin typeface="Times New Roman" panose="02020603050405020304" pitchFamily="18" charset="0"/>
                <a:cs typeface="Times New Roman" panose="02020603050405020304" pitchFamily="18" charset="0"/>
              </a:rPr>
              <a:t>Primary responder (CBT chất lượng cao): Huysun29/cbt-llama-3.1-8b, afety/Crisis gate (router/guard): Huysun29/cbt-qwen-7b</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90999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337094" y="310551"/>
            <a:ext cx="3347049" cy="369332"/>
          </a:xfrm>
          <a:prstGeom prst="rect">
            <a:avLst/>
          </a:prstGeom>
          <a:noFill/>
        </p:spPr>
        <p:txBody>
          <a:bodyPr wrap="square" rtlCol="0">
            <a:spAutoFit/>
          </a:bodyPr>
          <a:lstStyle/>
          <a:p>
            <a:r>
              <a:rPr lang="en-US" b="1" dirty="0" smtClean="0">
                <a:latin typeface="Times New Roman" panose="02020603050405020304" pitchFamily="18" charset="0"/>
                <a:cs typeface="Times New Roman" panose="02020603050405020304" pitchFamily="18" charset="0"/>
              </a:rPr>
              <a:t>DEMO</a:t>
            </a:r>
            <a:endParaRPr lang="en-US" b="1" dirty="0">
              <a:latin typeface="Times New Roman" panose="02020603050405020304" pitchFamily="18" charset="0"/>
              <a:cs typeface="Times New Roman" panose="02020603050405020304" pitchFamily="18" charset="0"/>
            </a:endParaRPr>
          </a:p>
        </p:txBody>
      </p:sp>
      <p:pic>
        <p:nvPicPr>
          <p:cNvPr id="5" name="fig_4_7_pipeline_arch.png"/>
          <p:cNvPicPr/>
          <p:nvPr/>
        </p:nvPicPr>
        <p:blipFill>
          <a:blip r:embed="rId2"/>
          <a:stretch>
            <a:fillRect/>
          </a:stretch>
        </p:blipFill>
        <p:spPr>
          <a:xfrm>
            <a:off x="2173569" y="915723"/>
            <a:ext cx="8186756" cy="4570677"/>
          </a:xfrm>
          <a:prstGeom prst="rect">
            <a:avLst/>
          </a:prstGeom>
        </p:spPr>
      </p:pic>
    </p:spTree>
    <p:extLst>
      <p:ext uri="{BB962C8B-B14F-4D97-AF65-F5344CB8AC3E}">
        <p14:creationId xmlns:p14="http://schemas.microsoft.com/office/powerpoint/2010/main" val="180978620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698</TotalTime>
  <Words>1542</Words>
  <Application>Microsoft Office PowerPoint</Application>
  <PresentationFormat>Widescreen</PresentationFormat>
  <Paragraphs>369</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Microsoft account</cp:lastModifiedBy>
  <cp:revision>22</cp:revision>
  <dcterms:created xsi:type="dcterms:W3CDTF">2026-05-29T19:02:58Z</dcterms:created>
  <dcterms:modified xsi:type="dcterms:W3CDTF">2026-06-01T16:04:57Z</dcterms:modified>
</cp:coreProperties>
</file>